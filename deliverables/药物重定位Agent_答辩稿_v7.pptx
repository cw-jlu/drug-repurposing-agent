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官方 NS-AUC（100 种子均值）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随机拆分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0.482</c:v>
                </c:pt>
                <c:pt idx="1">
                  <c:v>0.522</c:v>
                </c:pt>
                <c:pt idx="2">
                  <c:v>0.723</c:v>
                </c:pt>
                <c:pt idx="3">
                  <c:v>0.745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弱相关拆分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B1 表达反转</c:v>
                  </c:pt>
                  <c:pt idx="1">
                    <c:v>B2 旧融合（列方向）</c:v>
                  </c:pt>
                  <c:pt idx="2">
                    <c:v>B3 行方向融合</c:v>
                  </c:pt>
                  <c:pt idx="3">
                    <c:v>B4 = B3 + BNNR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0.542</c:v>
                </c:pt>
                <c:pt idx="1">
                  <c:v>0.502</c:v>
                </c:pt>
                <c:pt idx="2">
                  <c:v>0.692</c:v>
                </c:pt>
                <c:pt idx="3">
                  <c:v>0.658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4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83042"/>
                </a:solidFill>
                <a:latin typeface="Microsoft YaHei"/>
              </a:defRPr>
            </a:pPr>
            <a:r>
              <a:rPr sz="1400" b="0" i="0" u="none" strike="noStrike">
                <a:solidFill>
                  <a:srgbClr val="183042"/>
                </a:solidFill>
                <a:latin typeface="Microsoft YaHei"/>
              </a:rPr>
              <a:t>正例 vs 未知 AUC（600 对）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AUC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E49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87E7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9C2C7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开卷：给药名/病名</c:v>
                  </c:pt>
                  <c:pt idx="1">
                    <c:v>闭卷：只给反转数值</c:v>
                  </c:pt>
                  <c:pt idx="2">
                    <c:v>反转分数本身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0.567</c:v>
                </c:pt>
                <c:pt idx="1">
                  <c:v>0.527</c:v>
                </c:pt>
                <c:pt idx="2">
                  <c:v>0.519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65"/>
          <c:min val="0.4"/>
        </c:scaling>
        <c:delete val="0"/>
        <c:axPos val="b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准确率</c:v>
                </c:pt>
              </c:strCache>
            </c:strRef>
          </c:tx>
          <c:spPr>
            <a:solidFill>
              <a:srgbClr val="112B3C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0.875</c:v>
                </c:pt>
                <c:pt idx="1">
                  <c:v>0.875</c:v>
                </c:pt>
                <c:pt idx="2">
                  <c:v>0.792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模糊用例升级召回</c:v>
                </c:pt>
              </c:strCache>
            </c:strRef>
          </c:tx>
          <c:spPr>
            <a:solidFill>
              <a:srgbClr val="087E7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0.688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高风险误执行率</c:v>
                </c:pt>
              </c:strCache>
            </c:strRef>
          </c:tx>
          <c:spPr>
            <a:solidFill>
              <a:srgbClr val="9E49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000000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J0 固定规则</c:v>
                  </c:pt>
                  <c:pt idx="1">
                    <c:v>J1 通用 LLM</c:v>
                  </c:pt>
                  <c:pt idx="2">
                    <c:v>J3 LLM + 置信门控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0.033</c:v>
                </c:pt>
                <c:pt idx="1">
                  <c:v>0.15</c:v>
                </c:pt>
                <c:pt idx="2">
                  <c:v>0.083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000000"/>
                  </a:solidFill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0"/>
        <c:axPos val="l"/>
        <c:majorGridlines>
          <c:spPr>
            <a:ln w="6350" cap="flat">
              <a:solidFill>
                <a:srgbClr val="E3E7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5"/>
                </a:solidFill>
                <a:latin typeface="Microsoft YaHe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Microsoft YaHei"/>
              <a:cs typeface="Microsoft YaHe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20 秒。题目：面向药物重定位的可审计 Agent。两条主线：第三方公开 Benchmark 上的外部评测，以及肺腺癌端到端案例。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秒。课程要求 Problem → Data → Model → Benchmark → Biological interpretation。我们的问题：一个不训练新模型、由 LLM 调度确定性工具的 Agent，能否在别人定义的 Benchmark 上给出可信排名，并对具体疾病给出可追溯的候选与证据。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秒。TRANSCRIPT 标签极稀疏：613×151 矩阵里只有 401 个正例、11 个负例，其余是未知而非阴性。GSE32863 核实为 57 对配对样本（GEO 摘要写 60 对），两份无法配对的样本被排除；配对 limma 复现 512 上调、749 下调基因。来源：docs/data_card.md、docs/luad_data_audit.md、docs/figures/fig6。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秒。LLM 只做规划与解释，数值计算全部由确定性工具完成，最终由代码校验 Schema、ID、引用和权限。Strict 模式下 LLM 看不到任何标签或药名。规划器在事先冻结的 100 例独立 holdout 上：DeepSeek 98/100，规则 90/100（docs/planner_eval_results.md）。每次运行写入带 SHA-256 链的 JSONL 轨迹。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秒。表达反转 B1 在官方 NS-AUC 上只有 0.482（随机拆分），与随机无差别——这是本项目的核心负结果。复核评价代码发现：官方 NS-AUC 在每个药物行内对疾病排序、并把同分记 0；旧 B2 在疾病列内排序，且流行度分量在行内是常数。B3 改为行方向、加入疾病流行度与标签共现并打破同分，配置在正式评分前冻结（commit 92943bb），开发种子与官方 100 种子不相交。弱相关拆分只有一个固定留出集，冻结前已看过，已在配置中披露。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70 秒。RECeSS 官方 Runner，与作者公布的 11 个模型逐种子对齐。B3：随机 0.723（BNNR 0.733 第一，B3 在 100 个配对种子中胜 35 次），弱相关 0.692（MBiRW 0.738 第一）。第二轮 B4（B3 + BNNR 的 NumPy 移植，只在开发种子上设计后冻结）：随机 0.745、弱相关 0.658。B4 在随机拆分上超过全部 11 个发表模型（对 BNNR 配对胜 87/100），但弱相关拆分仍落后 MBiRW 与 HAN，因此只能说随机拆分协议下排名第一，不宣称两种协议下的 SOTA。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秒。同一 DeepSeek 模型、同一冻结样本（300 正例 + 300 未知，哈希在调用前固定）。开卷给药名和病名：AUC 0.567，95% CI [0.526, 0.609]，唯一显著高于 0.5；闭卷只给反转数值：0.527；反转分数本身 0.519。开卷减闭卷 0.040，CI 跨 0。结论：LLM 会凭记忆认出教科书适应症，这是泄漏不是发现，所以 Benchmark 必须在 LLM 看不到身份的 Strict 模式下运行；TRANSCRIPT 标签噪声使泄漏幅度不大。共 1222 次调用，约 0.08 美元。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秒。冻结 120 个封闭决策用例（工具路由、数据质量、证据充分性、候选分级各 30），参考答案由成文策略决定，调用前提交冻结。J0 与 J1 准确率都是 0.875；J1 对模糊用例全部升级人工，但高风险误执行 0.150，高于规则的 0.033；加入置信门控后降到 0.083，代价是升级率 0.400。Jev 未获访问，同一冻结集可直接复测。用例为策略生成的合成数据，单次运行。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60 秒。GSE32863 配对差异表达得到 512 上调 / 749 下调基因（FDR&lt;0.05，|log2FC|≥1）；肺泡上皮标志物（AGER、SFTPA1、CLDN18）下调，细胞外基质与侵袭相关基因（SPP1、MMP11、COL1A1）上调，符合 LUAD 生物学。A549 签名反转得到的 Top-10 中 8 个是糖皮质激素、共同指向 NR3C1 与 GR 转录通路——这是一个机制假设而不是十个独立发现；A549 为 KRAS 突变细胞系，细胞系结果不能外推到患者。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50 秒。每个候选：文献 Agent 检索 PubMed 并提出带原文引语的支持论断；批评 Agent 独立检索反对证据；确定性校验要求 PMID 在检索集中且引语逐字出现；协调者给出分级。65 条引语 0 条被拒；10/10 为证据不足，与单轮审阅一致。局限：逐字校验不保证引语真正支持论断（例如批评 Agent 引用了一篇勘误），仍需人工复核。共 22 次调用。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约 40 秒。总结五点。最后强调：Benchmark 分数只代表已知关联恢复能力；LUAD 候选是待验证的研究假设，不是用药建议。代码与所有结果见 GitHub 仓库。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药物重定位 Agent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749808" y="29718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CFE3E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从疾病转录组到可审计的候选药物：公开 Benchmark + 肺腺癌案例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9FB7B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课程设计答辩 · 2026 年 9 月 · 研究用途，不构成临床建议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问题与五个环节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Problem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表达反转能否找到候选药？Agent 能否可审计地完成全流程？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2807208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90088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90088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2990088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Data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2990088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613×151；GSE32863 肺腺癌配对；LINCS A549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065776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248656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48656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48656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Model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248656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规划 + 确定性工具 + 规则/LLM 决策门控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7324344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7507224" y="18288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507224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507224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Benchmark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7507224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RECeSS 官方 Runner，100 种子 × 2 种拆分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82912" y="1645920"/>
            <a:ext cx="2057400" cy="3200400"/>
          </a:xfrm>
          <a:prstGeom prst="roundRect">
            <a:avLst>
              <a:gd name="adj" fmla="val 4444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9765792" y="1828800"/>
            <a:ext cx="548640" cy="548640"/>
          </a:xfrm>
          <a:prstGeom prst="ellipse">
            <a:avLst/>
          </a:prstGeom>
          <a:solidFill>
            <a:srgbClr val="112B3C"/>
          </a:solidFill>
          <a:ln w="12700">
            <a:solidFill>
              <a:srgbClr val="112B3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76579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765792" y="26060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Interpretation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9765792" y="3154680"/>
            <a:ext cx="1737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机制、文献证据与多 Agent 审阅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548640" y="53492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边界：不训练新预测模型；Benchmark 分数只代表已知关联的恢复能力，不代表临床疗效。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数据与质量控制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200" dirty="0"/>
          </a:p>
        </p:txBody>
      </p:sp>
      <p:pic>
        <p:nvPicPr>
          <p:cNvPr id="5" name="Image 0" descr="docs/figures/fig6_data_overvie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234440"/>
            <a:ext cx="7040880" cy="4023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7863840" y="128016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046720" y="138988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613 × 151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8046720" y="202996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TRANSCRIPT 药物 × 疾病候选空间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7863840" y="269748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046720" y="280720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0.45%</a:t>
            </a:r>
            <a:endParaRPr lang="en-US" sz="2800" dirty="0"/>
          </a:p>
        </p:txBody>
      </p:sp>
      <p:sp>
        <p:nvSpPr>
          <p:cNvPr id="11" name="Text 7"/>
          <p:cNvSpPr txBox="1"/>
          <p:nvPr/>
        </p:nvSpPr>
        <p:spPr>
          <a:xfrm>
            <a:off x="8046720" y="34472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已知关联占比（401 正 / 11 负，其余未知）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863840" y="4114800"/>
            <a:ext cx="374904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46720" y="4224528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57 对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8046720" y="48646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GSE32863 核实配对样本（排除 2 份）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557784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未知 ≠ 阴性：指标只在官方可评价的药物行上计算。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系统架构：谁负责什么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029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112B3C"/>
          </a:solidFill>
          <a:ln w="9525">
            <a:solidFill>
              <a:srgbClr val="112B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760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自然语言请求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217627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42316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9631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Planner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DeepSeek / 规则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09651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34340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41655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工具白名单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/ Open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01675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26364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33679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确定性计算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差异表达·排名融合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3699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18388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25703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证据层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PubMed·多 Agent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9857232" y="2258568"/>
            <a:ext cx="219456" cy="237744"/>
          </a:xfrm>
          <a:prstGeom prst="rightArrow">
            <a:avLst/>
          </a:prstGeom>
          <a:solidFill>
            <a:srgbClr val="087E78"/>
          </a:solidFill>
          <a:ln w="12700">
            <a:solidFill>
              <a:srgbClr val="087E78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0104120" y="1645920"/>
            <a:ext cx="1645920" cy="1463040"/>
          </a:xfrm>
          <a:prstGeom prst="roundRect">
            <a:avLst>
              <a:gd name="adj" fmla="val 6250"/>
            </a:avLst>
          </a:prstGeom>
          <a:solidFill>
            <a:srgbClr val="EEF3F2"/>
          </a:solidFill>
          <a:ln w="9525">
            <a:solidFill>
              <a:srgbClr val="B9C2C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177272" y="1645920"/>
            <a:ext cx="14996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Validator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Schema·引用·权限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54864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152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98/100</a:t>
            </a:r>
            <a:endParaRPr lang="en-US" sz="2800" dirty="0"/>
          </a:p>
        </p:txBody>
      </p:sp>
      <p:sp>
        <p:nvSpPr>
          <p:cNvPr id="24" name="Text 21"/>
          <p:cNvSpPr txBox="1"/>
          <p:nvPr/>
        </p:nvSpPr>
        <p:spPr>
          <a:xfrm>
            <a:off x="73152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规划器冻结 holdout（DeepSeek；规则 90/100）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29768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8056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 标签</a:t>
            </a:r>
            <a:endParaRPr lang="en-US" sz="2800" dirty="0"/>
          </a:p>
        </p:txBody>
      </p:sp>
      <p:sp>
        <p:nvSpPr>
          <p:cNvPr id="27" name="Text 24"/>
          <p:cNvSpPr txBox="1"/>
          <p:nvPr/>
        </p:nvSpPr>
        <p:spPr>
          <a:xfrm>
            <a:off x="448056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模式下 LLM 可见的 Benchmark 标签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046720" y="3840480"/>
            <a:ext cx="35661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229600" y="3950208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哈希链</a:t>
            </a:r>
            <a:endParaRPr lang="en-US" sz="2800" dirty="0"/>
          </a:p>
        </p:txBody>
      </p:sp>
      <p:sp>
        <p:nvSpPr>
          <p:cNvPr id="30" name="Text 27"/>
          <p:cNvSpPr txBox="1"/>
          <p:nvPr/>
        </p:nvSpPr>
        <p:spPr>
          <a:xfrm>
            <a:off x="8229600" y="4590288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每次运行写入 JSONL 轨迹，可逐步复核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发现：反转≈随机，提分来自对齐评价指标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13232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955280" y="1463040"/>
            <a:ext cx="37490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NS-AUC 在每个药物行内比较疾病，同分记 0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旧 B2 按疾病列排序，流行度在行内是常数 → 失效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改为行方向：疾病流行度 + 表达 kNN + 标签共现 + 反转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配置在正式评分前冻结；开发种子与官方种子不相交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第二轮 B4 = B3 + BNNR 移植（与作者结果逐种子一致），单独冻结后评分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官方 Benchmark：B4 随机拆分第 1/13，弱相关第 3/13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1200" dirty="0"/>
          </a:p>
        </p:txBody>
      </p:sp>
      <p:pic>
        <p:nvPicPr>
          <p:cNvPr id="5" name="Image 0" descr="docs/figures/fig1_nsauc_boxplo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2920" y="1188720"/>
            <a:ext cx="11155680" cy="50749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为什么必须 Strict 模式：LLM 知识污染探针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7589520" y="1463040"/>
            <a:ext cx="411480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95% CI [0.526, 0.609]：唯一显著高于 0.5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高置信命中都是教科书适应症（如四环素类—痤疮）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开卷 − 闭卷 = 0.040，CI 跨 0：泄漏存在但幅度小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看得到药名的 LLM 会“背答案”，所以 Benchmark 必须在 Strict 模式下运行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决策层消融：规则 vs LLM vs 门控（Jev 接口已预留）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12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188720"/>
          <a:ext cx="74980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8229600" y="1371600"/>
            <a:ext cx="347472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120 个冻结用例，参考答案由成文策略决定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与规则总体准确率持平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更会“知道自己不确定”：模糊用例全部升级人工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但 LLM 会高置信出错 → 必须叠加门控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8304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Jev 未获访问：接口保留，可直接复测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肺腺癌案例：签名与机制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1200" dirty="0"/>
          </a:p>
        </p:txBody>
      </p:sp>
      <p:pic>
        <p:nvPicPr>
          <p:cNvPr id="5" name="Image 0" descr="docs/figures/fig3_luad_volcan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88720"/>
            <a:ext cx="5669280" cy="4480560"/>
          </a:xfrm>
          <a:prstGeom prst="rect">
            <a:avLst/>
          </a:prstGeom>
        </p:spPr>
      </p:pic>
      <p:pic>
        <p:nvPicPr>
          <p:cNvPr id="6" name="Image 1" descr="docs/figures/fig5_top10_network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188720"/>
            <a:ext cx="5577840" cy="4480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58521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Top-10 中 8/10 为糖皮质激素 → 一个 NR3C1 机制假设，而非十个独立候选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12B3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 Agent 证据审阅：文献 × 批评 × 确定性校验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11155680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带原文引语的论断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38328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6616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9E49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356616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未通过 PMID/逐字校验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17920" y="128016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400800" y="138988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10/10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029968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证据不足（与单轮一致）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9052560" y="1280160"/>
            <a:ext cx="2560320" cy="1234440"/>
          </a:xfrm>
          <a:prstGeom prst="roundRect">
            <a:avLst>
              <a:gd name="adj" fmla="val 5926"/>
            </a:avLst>
          </a:prstGeom>
          <a:solidFill>
            <a:srgbClr val="EEF3F2"/>
          </a:solidFill>
          <a:ln w="12700">
            <a:solidFill>
              <a:srgbClr val="EEF3F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235440" y="1389888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87E7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</a:t>
            </a:r>
            <a:endParaRPr lang="en-US" sz="2800" dirty="0"/>
          </a:p>
        </p:txBody>
      </p:sp>
      <p:sp>
        <p:nvSpPr>
          <p:cNvPr id="16" name="Text 13"/>
          <p:cNvSpPr txBox="1"/>
          <p:nvPr/>
        </p:nvSpPr>
        <p:spPr>
          <a:xfrm>
            <a:off x="9235440" y="2029968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LLM 调用次数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43200"/>
          <a:ext cx="1106424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840480"/>
                <a:gridCol w="2011680"/>
                <a:gridCol w="438912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排名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分级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 PMID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B3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28824067, 29151505, 34657060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beclomethasone-dipropionate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12538830, 10903220, 24555085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clocortolone-pivalate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42205670, 42684586, 41376996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mometasone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11698053, 12948397, 19177906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flumetasone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42205670, 42684586, 41376996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BRD-K84203638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hydrocortisone-hemisuccinate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42205670, 42684586, 41376996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fluorometholone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42205670, 42684586, 41376996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fluticasone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12924514, 42589695, 42196603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diflorasone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证据不足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83042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42205670, 42684586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3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2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结论与局限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4630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286000" y="14630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纯表达反转在 TRANSCRIPT 上 ≈ 随机（官方 NS-AUC 0.482）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提分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2286000" y="23774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对齐指标方向并集成 BNNR 后 B4 随机拆分第 1/13、弱相关第 3/13；随机拆分超过全部发表模型，弱相关未超过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291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2286000" y="32918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Strict 模式隔离标签；探针证实 LLM 看到药名会“背答案”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2062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9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Agent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2286000" y="42062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 98/100；门控降低高风险误执行；多 Agent 引用逐字校验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51206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8A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2286000" y="512064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细胞系 ≠ 患者；未知 ≠ 阴性；无湿实验；Jev 未获访问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药物重定位 Agent 答辩 v7</dc:title>
  <dc:subject>PptxGenJS Presentation</dc:subject>
  <dc:creator>PptxGenJS</dc:creator>
  <cp:lastModifiedBy>PptxGenJS</cp:lastModifiedBy>
  <cp:revision>1</cp:revision>
  <dcterms:created xsi:type="dcterms:W3CDTF">2026-09-29T02:57:09Z</dcterms:created>
  <dcterms:modified xsi:type="dcterms:W3CDTF">2026-09-29T02:57:09Z</dcterms:modified>
</cp:coreProperties>
</file>