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3042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183042"/>
                </a:solidFill>
                <a:latin typeface="Microsoft YaHei"/>
              </a:rPr>
              <a:t>官方 NS-AUC（100 种子均值）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随机拆分</c:v>
                </c:pt>
              </c:strCache>
            </c:strRef>
          </c:tx>
          <c:spPr>
            <a:solidFill>
              <a:srgbClr val="112B3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B1 表达反转</c:v>
                  </c:pt>
                  <c:pt idx="1">
                    <c:v>B2 旧融合（列方向）</c:v>
                  </c:pt>
                  <c:pt idx="2">
                    <c:v>B3 行方向融合</c:v>
                  </c:pt>
                  <c:pt idx="3">
                    <c:v>B4 = B3 + BNNR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0.482</c:v>
                </c:pt>
                <c:pt idx="1">
                  <c:v>0.522</c:v>
                </c:pt>
                <c:pt idx="2">
                  <c:v>0.723</c:v>
                </c:pt>
                <c:pt idx="3">
                  <c:v>0.745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弱相关拆分</c:v>
                </c:pt>
              </c:strCache>
            </c:strRef>
          </c:tx>
          <c:spPr>
            <a:solidFill>
              <a:srgbClr val="087E7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B1 表达反转</c:v>
                  </c:pt>
                  <c:pt idx="1">
                    <c:v>B2 旧融合（列方向）</c:v>
                  </c:pt>
                  <c:pt idx="2">
                    <c:v>B3 行方向融合</c:v>
                  </c:pt>
                  <c:pt idx="3">
                    <c:v>B4 = B3 + BNNR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0.542</c:v>
                </c:pt>
                <c:pt idx="1">
                  <c:v>0.502</c:v>
                </c:pt>
                <c:pt idx="2">
                  <c:v>0.692</c:v>
                </c:pt>
                <c:pt idx="3">
                  <c:v>0.658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3042"/>
                </a:solidFill>
                <a:latin typeface="Microsoft YaHei"/>
              </a:defRPr>
            </a:pPr>
            <a:r>
              <a:rPr sz="1400" b="0" i="0" u="none" strike="noStrike">
                <a:solidFill>
                  <a:srgbClr val="183042"/>
                </a:solidFill>
                <a:latin typeface="Microsoft YaHei"/>
              </a:rPr>
              <a:t>正例 vs 未知 AUC（600 对）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9E493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49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7E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2C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开卷：给药名/病名</c:v>
                  </c:pt>
                  <c:pt idx="1">
                    <c:v>闭卷：只给反转数值</c:v>
                  </c:pt>
                  <c:pt idx="2">
                    <c:v>反转分数本身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0.567</c:v>
                </c:pt>
                <c:pt idx="1">
                  <c:v>0.527</c:v>
                </c:pt>
                <c:pt idx="2">
                  <c:v>0.519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4"/>
        </c:scaling>
        <c:delete val="0"/>
        <c:axPos val="b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112B3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J0 固定规则</c:v>
                  </c:pt>
                  <c:pt idx="1">
                    <c:v>J1 通用 LLM</c:v>
                  </c:pt>
                  <c:pt idx="2">
                    <c:v>J3 LLM + 置信门控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0.875</c:v>
                </c:pt>
                <c:pt idx="1">
                  <c:v>0.875</c:v>
                </c:pt>
                <c:pt idx="2">
                  <c:v>0.792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模糊用例升级召回</c:v>
                </c:pt>
              </c:strCache>
            </c:strRef>
          </c:tx>
          <c:spPr>
            <a:solidFill>
              <a:srgbClr val="087E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J0 固定规则</c:v>
                  </c:pt>
                  <c:pt idx="1">
                    <c:v>J1 通用 LLM</c:v>
                  </c:pt>
                  <c:pt idx="2">
                    <c:v>J3 LLM + 置信门控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0.688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高风险误执行率</c:v>
                </c:pt>
              </c:strCache>
            </c:strRef>
          </c:tx>
          <c:spPr>
            <a:solidFill>
              <a:srgbClr val="9E49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J0 固定规则</c:v>
                  </c:pt>
                  <c:pt idx="1">
                    <c:v>J1 通用 LLM</c:v>
                  </c:pt>
                  <c:pt idx="2">
                    <c:v>J3 LLM + 置信门控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0.033</c:v>
                </c:pt>
                <c:pt idx="1">
                  <c:v>0.15</c:v>
                </c:pt>
                <c:pt idx="2">
                  <c:v>0.083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5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秒。题目：面向药物重定位的可审计 Agent。两条主线：第三方公开 Benchmark 上的外部评测，以及肺腺癌端到端案例。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50 秒。课程要求 Problem → Data → Model → Benchmark → Biological interpretation。我们的问题：一个不训练新模型、由 LLM 调度确定性工具的 Agent，能否在别人定义的 Benchmark 上给出可信排名，并对具体疾病给出可追溯的候选与证据。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50 秒。TRANSCRIPT 标签极稀疏：613×151 矩阵里只有 401 个正例、11 个负例，其余是未知而非阴性。GSE32863 核实为 57 对配对样本（GEO 摘要写 60 对），两份无法配对的样本被排除；配对 limma 复现 512 上调、749 下调基因。来源：docs/data_card.md、docs/luad_data_audit.md、docs/figures/fig6。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60 秒。LLM 只做规划与解释，数值计算全部由确定性工具完成，最终由代码校验 Schema、ID、引用和权限。Strict 模式下 LLM 看不到任何标签或药名。规划器在事先冻结的 100 例独立 holdout 上：DeepSeek 98/100，规则 90/100（docs/planner_eval_results.md）。每次运行写入带 SHA-256 链的 JSONL 轨迹。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70 秒。表达反转 B1 在官方 NS-AUC 上只有 0.482（随机拆分），与随机无差别——这是本项目的核心负结果。复核评价代码发现：官方 NS-AUC 在每个药物行内对疾病排序、并把同分记 0；旧 B2 在疾病列内排序，且流行度分量在行内是常数。B3 改为行方向、加入疾病流行度与标签共现并打破同分，配置在正式评分前冻结（commit 92943bb），开发种子与官方 100 种子不相交。弱相关拆分只有一个固定留出集，冻结前已看过，已在配置中披露。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70 秒。RECeSS 官方 Runner，与作者公布的 11 个模型逐种子对齐。B3：随机 0.723（BNNR 0.733 第一，B3 在 100 个配对种子中胜 35 次），弱相关 0.692（MBiRW 0.738 第一）。第二轮 B4（B3 + BNNR 的 NumPy 移植，只在开发种子上设计后冻结）：随机 0.745、弱相关 0.658。B4 在随机拆分上的均值高于全部 11 个发表模型（对 BNNR 配对胜 87/100）。但 100 个种子的测试集互相重叠，用 Nadeau–Bengio 校正检验后，对 BNNR 的差值 p = 0.066，95% CI [-0.0008, 0.0251] 跨 0，只能说与 BNNR 持平；global NDCG 与 HR@10 上 BNNR 仍更强。弱相关拆分落后 MBiRW 与 HAN。因此不宣称 SOTA。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50 秒。同一 DeepSeek 模型、同一冻结样本（300 正例 + 300 未知，哈希在调用前固定）。开卷给药名和病名：AUC 0.567，95% CI [0.526, 0.609]，唯一显著高于 0.5；闭卷只给反转数值：0.527；反转分数本身 0.519。开卷减闭卷 0.040，CI 跨 0。结论：LLM 会凭记忆认出教科书适应症，这是泄漏不是发现，所以 Benchmark 必须在 LLM 看不到身份的 Strict 模式下运行；TRANSCRIPT 标签噪声使泄漏幅度不大。共 1222 次调用，约 0.08 美元。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50 秒。图为 v1 的 120 个封闭合成决策用例：J0 与 J1 准确率都是 0.875，J1 高风险误执行 0.150；置信门控降到 0.083，但增加人工升级。新 v2 是另一个在任何调用前冻结的 40 条中文风险备注压力测试：混合层 39/40、完整 LLM 37/40、旧关键词规则 20/40；80/80 provider trace 通过回放。v2 是作者标注的合成新用例，不与 v1 准确率直接比较，也不代表临床正确率。Jev 未获访问。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60 秒。GSE32863 配对差异表达得到 512 上调 / 749 下调基因（FDR&lt;0.05，|log2FC|≥1）。Hallmark 富集：肿瘤上调 Estrogen Response Late、G2-M Checkpoint、Glycolysis、E2F Targets、KRAS Signaling Up；肿瘤下调 TNF-alpha Signaling via NF-kB、KRAS Signaling Up、Epithelial Mesenchymal Transition、Inflammatory Response，后者更可能反映正常肺组织免疫/间质成分在肿瘤中减少。右图：Top-10 在这些通路上的反转百分位，主要集中在糖酵解、G2-M/E2F 与缺氧；diflorasone 与 beclomethasone 不反转 EMT 基因。Top-10 中 9/10 属于或很可能属于糖皮质激素，指向 NR3C1 类别假设；但阈值敏感性分析显示这只在 |log2FC|≥1 及更严时成立，放宽到 0.58 后 Top-10 只剩 3 个原候选，RAF/PI3K/mTOR 抑制剂（Hub 注释）进入，只有 hydrocortisone、beclomethasone、clocortolone 在 12 种设定下都留在 Top-10（docs/luad_threshold_sensitivity.md）。注意：Top-10 与通路基因来自同一签名，右图不是独立验证。预先冻结的参考药中 5 个可测，平均名次百分位 0.362，置换 p = 0.147，不显著——本筛选没有证明能恢复已知 LUAD 药物。A549 为 KRAS 突变细胞系，结果不能外推到患者。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50 秒。每个候选由文献 Agent、批评 Agent 和协调者处理。冻结版 65 条引语全部通过 PMID 与逐字校验、10/10 判为证据不足，共 22 次模型调用。事后来源/药名范围预筛标记 23 条；当前 PubMed 摘要级复核中 13 条原样候选级引用需排除，9 条仅能收窄终点保留，1 条仅作一般安全提示。错误包括勘误当原始研究、未指名类固醇归给具体候选、柚皮素抗癌结果误归给 fluticasone。冻结分级未重跑；这不是独立双人全文审阅。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40 秒。总结五点。23 条是事后来源/药名范围预筛标记，并非 65 条都经过全文审阅；13 条原样候选级引用需排除，冻结药物分级未重算。独立外部方法选择 v3 的数据与标签门槛未通过，没有外部 NS-AUC 结果。Benchmark 分数只代表已知关联恢复能力；LUAD 候选是待验证的研究假设，不是用药建议。代码与所有结果见 GitHub 仓库。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药物重定位 Agent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971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FE3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从疾病转录组到可审计的候选药物：公开 Benchmark + 肺腺癌案例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7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课程设计答辩 · 2026 年 9 月 · 研究用途，不构成临床建议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问题与五个环节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54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表达反转能否找到候选药？Agent 能否可审计地完成全流程？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07208" y="164592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90088" y="1828800"/>
            <a:ext cx="548640" cy="548640"/>
          </a:xfrm>
          <a:prstGeom prst="ellipse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9008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990088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990088" y="3154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TRANSCRIPT 613×151；GSE32863 肺腺癌配对；LINCS A549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65776" y="164592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48656" y="1828800"/>
            <a:ext cx="548640" cy="548640"/>
          </a:xfrm>
          <a:prstGeom prst="ellipse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4865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248656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248656" y="3154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规划 + 确定性工具 + 规则/LLM 决策门控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24344" y="164592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087E78"/>
          </a:solidFill>
          <a:ln w="12700">
            <a:solidFill>
              <a:srgbClr val="087E7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07224" y="18288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0722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507224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507224" y="3154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RECeSS 官方 Runner，100 种子 × 2 种拆分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582912" y="1645920"/>
            <a:ext cx="2057400" cy="3200400"/>
          </a:xfrm>
          <a:prstGeom prst="roundRect">
            <a:avLst>
              <a:gd name="adj" fmla="val 4444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65792" y="1828800"/>
            <a:ext cx="548640" cy="548640"/>
          </a:xfrm>
          <a:prstGeom prst="ellipse">
            <a:avLst/>
          </a:prstGeom>
          <a:solidFill>
            <a:srgbClr val="112B3C"/>
          </a:solidFill>
          <a:ln w="12700">
            <a:solidFill>
              <a:srgbClr val="112B3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6579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765792" y="2606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765792" y="31546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机制、文献证据与多 Agent 审阅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边界：不训练新预测模型；Benchmark 分数只代表已知关联的恢复能力，不代表临床疗效。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数据与质量控制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pic>
        <p:nvPicPr>
          <p:cNvPr id="5" name="Image 0" descr="docs/figures/fig6_data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7040880" cy="4023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863840" y="128016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46720" y="13898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613 × 151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8046720" y="2029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TRANSCRIPT 药物 × 疾病候选空间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863840" y="269748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46720" y="2807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4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0.45%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34472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已知关联占比（401 正 / 11 负，其余未知）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863840" y="41148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46720" y="42245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 对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8046720" y="48646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GSE32863 核实配对样本（排除 2 份）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5778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 ≠ 阴性：指标只在官方可评价的药物行上计算。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系统架构：谁负责什么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112B3C"/>
          </a:solidFill>
          <a:ln w="9525">
            <a:solidFill>
              <a:srgbClr val="112B3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" y="164592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自然语言请求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76272" y="2258568"/>
            <a:ext cx="219456" cy="237744"/>
          </a:xfrm>
          <a:prstGeom prst="rightArrow">
            <a:avLst/>
          </a:prstGeom>
          <a:solidFill>
            <a:srgbClr val="087E78"/>
          </a:solidFill>
          <a:ln w="12700">
            <a:solidFill>
              <a:srgbClr val="087E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23160" y="164592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EEF3F2"/>
          </a:solidFill>
          <a:ln w="9525">
            <a:solidFill>
              <a:srgbClr val="B9C2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96312" y="164592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规则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96512" y="2258568"/>
            <a:ext cx="219456" cy="237744"/>
          </a:xfrm>
          <a:prstGeom prst="rightArrow">
            <a:avLst/>
          </a:prstGeom>
          <a:solidFill>
            <a:srgbClr val="087E78"/>
          </a:solidFill>
          <a:ln w="12700">
            <a:solidFill>
              <a:srgbClr val="087E7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164592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EEF3F2"/>
          </a:solidFill>
          <a:ln w="9525">
            <a:solidFill>
              <a:srgbClr val="B9C2C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16552" y="164592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工具白名单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 / Open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16752" y="2258568"/>
            <a:ext cx="219456" cy="237744"/>
          </a:xfrm>
          <a:prstGeom prst="rightArrow">
            <a:avLst/>
          </a:prstGeom>
          <a:solidFill>
            <a:srgbClr val="087E78"/>
          </a:solidFill>
          <a:ln w="12700">
            <a:solidFill>
              <a:srgbClr val="087E7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164592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EEF3F2"/>
          </a:solidFill>
          <a:ln w="9525">
            <a:solidFill>
              <a:srgbClr val="B9C2C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36792" y="164592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确定性计算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差异表达·排名融合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36992" y="2258568"/>
            <a:ext cx="219456" cy="237744"/>
          </a:xfrm>
          <a:prstGeom prst="rightArrow">
            <a:avLst/>
          </a:prstGeom>
          <a:solidFill>
            <a:srgbClr val="087E78"/>
          </a:solidFill>
          <a:ln w="12700">
            <a:solidFill>
              <a:srgbClr val="087E7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164592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EEF3F2"/>
          </a:solidFill>
          <a:ln w="9525">
            <a:solidFill>
              <a:srgbClr val="B9C2C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57032" y="164592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PubMed·多 Agent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857232" y="2258568"/>
            <a:ext cx="219456" cy="237744"/>
          </a:xfrm>
          <a:prstGeom prst="rightArrow">
            <a:avLst/>
          </a:prstGeom>
          <a:solidFill>
            <a:srgbClr val="087E78"/>
          </a:solidFill>
          <a:ln w="12700">
            <a:solidFill>
              <a:srgbClr val="087E7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04120" y="1645920"/>
            <a:ext cx="1645920" cy="1463040"/>
          </a:xfrm>
          <a:prstGeom prst="roundRect">
            <a:avLst>
              <a:gd name="adj" fmla="val 6250"/>
            </a:avLst>
          </a:prstGeom>
          <a:solidFill>
            <a:srgbClr val="EEF3F2"/>
          </a:solidFill>
          <a:ln w="9525">
            <a:solidFill>
              <a:srgbClr val="B9C2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177272" y="1645920"/>
            <a:ext cx="14996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Schema·引用·权限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840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9502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98/100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4590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规划器冻结 holdout（DeepSeek；规则 90/100）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297680" y="3840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80560" y="39502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标签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4480560" y="4590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 模式下 LLM 可见的 Benchmark 标签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046720" y="38404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0" y="39502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哈希链</a:t>
            </a:r>
            <a:endParaRPr lang="en-US" sz="28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4590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每次运行写入 JSONL 轨迹，可逐步复核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发现：反转≈随机，提分来自对齐评价指标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71323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55280" y="146304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NS-AUC 在每个药物行内比较疾病，同分记 0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B2 按疾病列排序，流行度在行内是常数 → 失效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改为行方向：疾病流行度 + 表达 kNN + 标签共现 + 反转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配置在正式评分前冻结；开发种子与官方种子不相交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 B4 = B3 + BNNR 移植（与作者结果逐种子一致），单独冻结后评分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Benchmark：B4 随机 1/13（与 BNNR 持平）、弱相关 3/13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pic>
        <p:nvPicPr>
          <p:cNvPr id="5" name="Image 0" descr="docs/figures/fig1_nsauc_box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188720"/>
            <a:ext cx="1115568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 Strict 模式：LLM 知识污染探针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589520" y="1463040"/>
            <a:ext cx="4114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开卷 95% CI [0.526, 0.609]：唯一显著高于 0.5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高置信命中都是教科书适应症（如四环素类—痤疮）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开卷 − 闭卷 = 0.040，CI 跨 0：泄漏存在但幅度小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看得到药名的 LLM 会“背答案”，所以 Benchmark 必须在 Strict 模式下运行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决策层消融：规则 vs LLM vs 门控（Jev 接口已预留）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229600" y="1371600"/>
            <a:ext cx="3474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图：v1 120 个冻结合成决策用例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规则与 LLM 准确率持平；门控减少高风险误执行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v2 中文备注：混合 39/40，完整 LLM 37/40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作者标注、合成；两集结果不能直接比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3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Jev 未获访问：接口保留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肺腺癌案例：通路与机制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pic>
        <p:nvPicPr>
          <p:cNvPr id="5" name="Image 0" descr="docs/figures/fig7_luad_pathway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5760720" cy="4480560"/>
          </a:xfrm>
          <a:prstGeom prst="rect">
            <a:avLst/>
          </a:prstGeom>
        </p:spPr>
      </p:pic>
      <p:pic>
        <p:nvPicPr>
          <p:cNvPr id="6" name="Image 1" descr="docs/figures/fig8_top10_pathway_revers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188720"/>
            <a:ext cx="5577840" cy="44805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E4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预设阈值下 9/10 为糖皮质激素，但放宽阈值后被 RAF/PI3K/mTOR 抑制剂部分取代；参考药恢复 p = 0.147，不显著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B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证据审阅：逐字引用 ≠ 论断成立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898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冻结版通过逐字校验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3898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4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事后范围预筛标记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28016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3898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E49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原样候选级引用需排除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52560" y="12801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EF3F2"/>
          </a:solidFill>
          <a:ln w="12700">
            <a:solidFill>
              <a:srgbClr val="EEF3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35440" y="13898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2029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冻结分级：未重新计算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840480"/>
                <a:gridCol w="2011680"/>
                <a:gridCol w="4389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冻结分级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 条中的摘要级审计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B3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hydrocortisone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 1；限定范围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beclomethasone-dipropionate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 3；限定范围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clocortolone-pivalate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 1；限定范围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mometasone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 0；限定范围 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flumetasone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 1；限定范围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BRD-K84203638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本轮未标记（不等于已全面核验）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hydrocortisone-hemisuccinate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 1；限定范围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fluorometholone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 4；限定范围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fluticasone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 2；限定范围 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diflorasone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证据不足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3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本轮未标记（不等于已全面核验）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结论与局限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负结果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463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纯表达反转在 TRANSCRIPT 上 ≈ 随机（官方 NS-AUC 0.482）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3774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对齐指标方向并集成 BNNR 后 B4 随机拆分第 1/13、弱相关第 3/13；随机拆分与 BNNR 持平（校正检验不显著），弱相关未超过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32918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 模式隔离标签；探针证实 LLM 看到药名会“背答案”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42062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98/100；23 条范围预筛引用中 13 条原样需排除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51206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细胞系 ≠ 患者；未知 ≠ 阴性；外部 v3 未跑；Jev/湿实验未做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药物重定位 Agent 答辩 v7</dc:title>
  <dc:subject>PptxGenJS Presentation</dc:subject>
  <dc:creator>PptxGenJS</dc:creator>
  <cp:lastModifiedBy>PptxGenJS</cp:lastModifiedBy>
  <cp:revision>1</cp:revision>
  <dcterms:created xsi:type="dcterms:W3CDTF">2026-10-01T08:53:07Z</dcterms:created>
  <dcterms:modified xsi:type="dcterms:W3CDTF">2026-10-01T08:53:07Z</dcterms:modified>
</cp:coreProperties>
</file>