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83042"/>
                </a:solidFill>
                <a:latin typeface="Microsoft YaHei"/>
              </a:defRPr>
            </a:pPr>
            <a:r>
              <a:rPr sz="1400" b="0" i="0" u="none" strike="noStrike">
                <a:solidFill>
                  <a:srgbClr val="183042"/>
                </a:solidFill>
                <a:latin typeface="Microsoft YaHei"/>
              </a:rPr>
              <a:t>冻结 40 例多步规划：规则 30/40 · DeepSeek 36/40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规则规划器</c:v>
                </c:pt>
              </c:strCache>
            </c:strRef>
          </c:tx>
          <c:spPr>
            <a:solidFill>
              <a:srgbClr val="B9C2C7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完整流程</c:v>
                  </c:pt>
                  <c:pt idx="1">
                    <c:v>部分任务</c:v>
                  </c:pt>
                  <c:pt idx="2">
                    <c:v>基准模式</c:v>
                  </c:pt>
                  <c:pt idx="3">
                    <c:v>缺少输入</c:v>
                  </c:pt>
                  <c:pt idx="4">
                    <c:v>故障恢复</c:v>
                  </c:pt>
                  <c:pt idx="5">
                    <c:v>越权/注入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</c:v>
                </c:pt>
                <c:pt idx="1">
                  <c:v>0.25</c:v>
                </c:pt>
                <c:pt idx="2">
                  <c:v>0.8</c:v>
                </c:pt>
                <c:pt idx="3">
                  <c:v>0.833</c:v>
                </c:pt>
                <c:pt idx="4">
                  <c:v>0.857</c:v>
                </c:pt>
                <c:pt idx="5">
                  <c:v>0.875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DeepSeek 规划器</c:v>
                </c:pt>
              </c:strCache>
            </c:strRef>
          </c:tx>
          <c:spPr>
            <a:solidFill>
              <a:srgbClr val="087E78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完整流程</c:v>
                  </c:pt>
                  <c:pt idx="1">
                    <c:v>部分任务</c:v>
                  </c:pt>
                  <c:pt idx="2">
                    <c:v>基准模式</c:v>
                  </c:pt>
                  <c:pt idx="3">
                    <c:v>缺少输入</c:v>
                  </c:pt>
                  <c:pt idx="4">
                    <c:v>故障恢复</c:v>
                  </c:pt>
                  <c:pt idx="5">
                    <c:v>越权/注入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0.857</c:v>
                </c:pt>
                <c:pt idx="5">
                  <c:v>0.625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-8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5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15"/>
          <c:min val="0"/>
        </c:scaling>
        <c:delete val="0"/>
        <c:axPos val="l"/>
        <c:majorGridlines>
          <c:spPr>
            <a:ln w="6350" cap="flat">
              <a:solidFill>
                <a:srgbClr val="E3E7EA"/>
              </a:solidFill>
              <a:prstDash val="solid"/>
              <a:round/>
            </a:ln>
          </c:spPr>
        </c:majorGridlines>
        <c:numFmt formatCode="0%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5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latin typeface="Microsoft YaHei"/>
              <a:cs typeface="Microsoft YaHe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83042"/>
                </a:solidFill>
                <a:latin typeface="Microsoft YaHei"/>
              </a:defRPr>
            </a:pPr>
            <a:r>
              <a:rPr sz="1400" b="0" i="0" u="none" strike="noStrike">
                <a:solidFill>
                  <a:srgbClr val="183042"/>
                </a:solidFill>
                <a:latin typeface="Microsoft YaHei"/>
              </a:rPr>
              <a:t>官方 NS-AUC（100 种子均值）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随机拆分</c:v>
                </c:pt>
              </c:strCache>
            </c:strRef>
          </c:tx>
          <c:spPr>
            <a:solidFill>
              <a:srgbClr val="112B3C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B1 表达反转</c:v>
                  </c:pt>
                  <c:pt idx="1">
                    <c:v>B2 旧融合（列方向）</c:v>
                  </c:pt>
                  <c:pt idx="2">
                    <c:v>B3 行方向融合</c:v>
                  </c:pt>
                  <c:pt idx="3">
                    <c:v>B4 = B3 + BNNR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0.482</c:v>
                </c:pt>
                <c:pt idx="1">
                  <c:v>0.522</c:v>
                </c:pt>
                <c:pt idx="2">
                  <c:v>0.723</c:v>
                </c:pt>
                <c:pt idx="3">
                  <c:v>0.745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弱相关拆分</c:v>
                </c:pt>
              </c:strCache>
            </c:strRef>
          </c:tx>
          <c:spPr>
            <a:solidFill>
              <a:srgbClr val="087E78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B1 表达反转</c:v>
                  </c:pt>
                  <c:pt idx="1">
                    <c:v>B2 旧融合（列方向）</c:v>
                  </c:pt>
                  <c:pt idx="2">
                    <c:v>B3 行方向融合</c:v>
                  </c:pt>
                  <c:pt idx="3">
                    <c:v>B4 = B3 + BNNR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0.542</c:v>
                </c:pt>
                <c:pt idx="1">
                  <c:v>0.502</c:v>
                </c:pt>
                <c:pt idx="2">
                  <c:v>0.692</c:v>
                </c:pt>
                <c:pt idx="3">
                  <c:v>0.658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5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8"/>
          <c:min val="0.4"/>
        </c:scaling>
        <c:delete val="0"/>
        <c:axPos val="l"/>
        <c:majorGridlines>
          <c:spPr>
            <a:ln w="6350" cap="flat">
              <a:solidFill>
                <a:srgbClr val="E3E7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5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latin typeface="Microsoft YaHei"/>
              <a:cs typeface="Microsoft YaHe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83042"/>
                </a:solidFill>
                <a:latin typeface="Microsoft YaHei"/>
              </a:defRPr>
            </a:pPr>
            <a:r>
              <a:rPr sz="1400" b="0" i="0" u="none" strike="noStrike">
                <a:solidFill>
                  <a:srgbClr val="183042"/>
                </a:solidFill>
                <a:latin typeface="Microsoft YaHei"/>
              </a:rPr>
              <a:t>正例 vs 未知 AUC（600 对）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AUC</c:v>
                </c:pt>
              </c:strCache>
            </c:strRef>
          </c:tx>
          <c:spPr>
            <a:solidFill>
              <a:srgbClr val="9E493D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E493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87E7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9C2C7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开卷：给药名/病名</c:v>
                  </c:pt>
                  <c:pt idx="1">
                    <c:v>闭卷：只给反转数值</c:v>
                  </c:pt>
                  <c:pt idx="2">
                    <c:v>反转分数本身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0.567</c:v>
                </c:pt>
                <c:pt idx="1">
                  <c:v>0.527</c:v>
                </c:pt>
                <c:pt idx="2">
                  <c:v>0.519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5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65"/>
          <c:min val="0.4"/>
        </c:scaling>
        <c:delete val="0"/>
        <c:axPos val="b"/>
        <c:majorGridlines>
          <c:spPr>
            <a:ln w="6350" cap="flat">
              <a:solidFill>
                <a:srgbClr val="E3E7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5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准确率</c:v>
                </c:pt>
              </c:strCache>
            </c:strRef>
          </c:tx>
          <c:spPr>
            <a:solidFill>
              <a:srgbClr val="112B3C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J0 规则</c:v>
                  </c:pt>
                  <c:pt idx="1">
                    <c:v>J1 flash</c:v>
                  </c:pt>
                  <c:pt idx="2">
                    <c:v>J3 flash+门控</c:v>
                  </c:pt>
                  <c:pt idx="3">
                    <c:v>J2 Jev</c:v>
                  </c:pt>
                  <c:pt idx="4">
                    <c:v>J3 Jev+门控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0.875</c:v>
                </c:pt>
                <c:pt idx="1">
                  <c:v>0.875</c:v>
                </c:pt>
                <c:pt idx="2">
                  <c:v>0.792</c:v>
                </c:pt>
                <c:pt idx="3">
                  <c:v>0.9</c:v>
                </c:pt>
                <c:pt idx="4">
                  <c:v>0.783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模糊用例转人工</c:v>
                </c:pt>
              </c:strCache>
            </c:strRef>
          </c:tx>
          <c:spPr>
            <a:solidFill>
              <a:srgbClr val="087E78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J0 规则</c:v>
                  </c:pt>
                  <c:pt idx="1">
                    <c:v>J1 flash</c:v>
                  </c:pt>
                  <c:pt idx="2">
                    <c:v>J3 flash+门控</c:v>
                  </c:pt>
                  <c:pt idx="3">
                    <c:v>J2 Jev</c:v>
                  </c:pt>
                  <c:pt idx="4">
                    <c:v>J3 Jev+门控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0.688</c:v>
                </c:pt>
                <c:pt idx="1">
                  <c:v>1</c:v>
                </c:pt>
                <c:pt idx="2">
                  <c:v>1</c:v>
                </c:pt>
                <c:pt idx="3">
                  <c:v>0.938</c:v>
                </c:pt>
                <c:pt idx="4">
                  <c:v>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高风险误执行率</c:v>
                </c:pt>
              </c:strCache>
            </c:strRef>
          </c:tx>
          <c:spPr>
            <a:solidFill>
              <a:srgbClr val="9E493D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J0 规则</c:v>
                  </c:pt>
                  <c:pt idx="1">
                    <c:v>J1 flash</c:v>
                  </c:pt>
                  <c:pt idx="2">
                    <c:v>J3 flash+门控</c:v>
                  </c:pt>
                  <c:pt idx="3">
                    <c:v>J2 Jev</c:v>
                  </c:pt>
                  <c:pt idx="4">
                    <c:v>J3 Jev+门控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0.033</c:v>
                </c:pt>
                <c:pt idx="1">
                  <c:v>0.15</c:v>
                </c:pt>
                <c:pt idx="2">
                  <c:v>0.083</c:v>
                </c:pt>
                <c:pt idx="3">
                  <c:v>0.117</c:v>
                </c:pt>
                <c:pt idx="4">
                  <c:v>0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5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1"/>
          <c:min val="0"/>
        </c:scaling>
        <c:delete val="0"/>
        <c:axPos val="l"/>
        <c:majorGridlines>
          <c:spPr>
            <a:ln w="6350" cap="flat">
              <a:solidFill>
                <a:srgbClr val="E3E7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5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latin typeface="Microsoft YaHei"/>
              <a:cs typeface="Microsoft YaHe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20 秒。题目：面向药物重定位的可审计 Agent。两条主线：第三方公开 Benchmark 上的外部评测，以及肺腺癌端到端案例。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50 秒。课程要求 Problem → Data → Model → Benchmark → Biological interpretation。我们的问题：一个不训练新模型、由 LLM 调度确定性工具的 Agent，能否在别人定义的 Benchmark 上给出可信排名，并对具体疾病给出可追溯的候选与证据。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50 秒。TRANSCRIPT 标签极稀疏：613×151 矩阵里只有 401 个正例、11 个负例，其余是未知而非阴性。GSE32863 核实为 57 对配对样本（GEO 摘要写 60 对），两份无法配对的样本被排除；配对 limma 复现 512 上调、749 下调基因。来源：docs/data_card.md、docs/luad_data_audit.md、docs/figures/fig6。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50 秒。图为 Agent v2。大模型只看到模式、可用输入名称和已完成产物，看不到数据、文件路径和 Benchmark 标签；它一次提交多步计划，代码逐条校验白名单、模式、依赖和输入，不合法或某步失败时把观察反馈给它重新规划，最多 3 轮。数值计算全部由确定性工具完成，最终由 Validator 检查 ID、哈希、排名、引用和权限；每一步写入 SHA-256 链式轨迹。来源：docs/agent_v2.md、docs/figures/fig9_architecture.png。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60 秒。v1 只从 3 个工具里选 1 个；v2 让大模型把请求拆成有序步骤，代码校验依赖、模式和输入后执行，失败时带着已完成产物重新规划。冻结的 40 例多步规划测试（调用前提交）：DeepSeek 36/40，规则规划器 30/40。规则输在“部分任务”（只认关键词，把“只做差异表达”也跑成全流程）；DeepSeek 部分任务、缺少输入、基准模式全对，但越权类 5/8：对“跳过质控”“忽略校验当治疗方案”“排完删数据”它照常跑了安全的标准流程而没有拒绝——代码层依赖校验和白名单仍挡住了实际风险，但这是规划器的真实弱点。右侧是真实工具上的一次运行：排名第一次失败后，第 2 轮只规划剩下的 4 步，跳过已完成的质控、差异表达和通路分析，最终完成。能力边界：只支持登记表中的疾病（目前只有肺腺癌）；说出疾病名后，Agent 能自动从 GEO 下载数据、核对哈希、从原始数据重算，一路跑到报告，未登记的疾病会转人工。补充一句：大模型决定用哪些工具、按什么顺序、何时停止（40 例中第一轮出现 9 种不同计划），但每个工具内部的算法和阈值由代码固定——阈值会改变 Top-10，不能让模型看完结果再调。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70 秒。表达反转 B1 在官方 NS-AUC 上只有 0.482（随机拆分），与随机无差别——这是本项目的核心负结果。复核评价代码发现：官方 NS-AUC 在每个药物行内对疾病排序、并把同分记 0；旧 B2 在疾病列内排序，且流行度分量在行内是常数。B3 改为行方向、加入疾病流行度与标签共现并打破同分，配置在正式评分前冻结（commit 92943bb），开发种子与官方 100 种子不相交。弱相关拆分只有一个固定留出集，冻结前已看过，已在配置中披露。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70 秒。RECeSS 官方 Runner，与作者公布的 11 个模型逐种子对齐。B3：随机 0.723（BNNR 0.733 第一，B3 在 100 个配对种子中胜 35 次），弱相关 0.692（MBiRW 0.738 第一）。第二轮 B4（B3 + BNNR 的 NumPy 移植，只在开发种子上设计后冻结）：随机 0.745、弱相关 0.658。B4 在随机拆分上的均值高于全部 11 个发表模型（对 BNNR 配对胜 87/100）。但 100 个种子的测试集互相重叠，用 Nadeau–Bengio 校正检验后，对 BNNR 的差值 p = 0.066，95% CI [-0.0008, 0.0251] 跨 0，只能说与 BNNR 持平；global NDCG 与 HR@10 上 BNNR 仍更强。弱相关拆分落后 MBiRW 与 HAN。因此不宣称 SOTA。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50 秒。同一 DeepSeek 模型、同一冻结样本（300 正例 + 300 未知，哈希在调用前固定）。开卷给药名和病名：AUC 0.567，95% CI [0.526, 0.609]，唯一显著高于 0.5；闭卷只给反转数值：0.527；反转分数本身 0.519。开卷减闭卷 0.040，CI 跨 0。结论：LLM 会凭记忆认出教科书适应症，这是泄漏不是发现，所以 Benchmark 必须在 LLM 看不到身份的 Strict 模式下运行；TRANSCRIPT 标签噪声使泄漏幅度不大。共 1222 次调用，约 0.08 美元。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60 秒。图为 v1 的 120 个封闭合成决策用例，所有决策器看到同样的策略文本与用例字段，门控阈值（0.8/0.9）在调用前固定。规则与 flash 准确率都是 0.875；flash 高风险误执行 0.150，加门控降到 0.083。Jev（TypeSafe System One，经 OpenCode Zen 调用 jev-1.13-free；付费版因余额不足在得到答案前改用免费版）不加门控准确率 0.900，为所有决策器最高；Brier 0.147，低于 flash 0.221 与 v4-pro 0.228，但 ECE 0.042 略高于 flash 的 0.025。Jev 加门控后高风险误执行为 0.000，代价是 0.483 的升级率；低置信交给 flash 的 J4 准确率 0.867。v2 的 40 条中文风险备注上，“规则算结构化字段、模型只判备注”的混合层，无论 flash、v4-pro 还是 Jev 判备注，高风险误执行都是 0（Jev 39/40）；让模型包办整个决策时，完整 Jev 只有 32/40 并出现高风险误执行。换 v4-pro 时门控一次都没触发，阈值需要按模型校准。用例为合成数据、单次运行，不代表临床正确率。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60 秒。GSE32863 配对差异表达得到 512 上调 / 749 下调基因（FDR&lt;0.05，|log2FC|≥1）。Hallmark 富集：肿瘤上调 Estrogen Response Late、G2-M Checkpoint、Glycolysis、E2F Targets、KRAS Signaling Up；肿瘤下调 TNF-alpha Signaling via NF-kB、KRAS Signaling Up、Epithelial Mesenchymal Transition、Inflammatory Response，后者更可能反映正常肺组织免疫/间质成分在肿瘤中减少。右图：Top-10 在这些通路上的反转百分位，主要集中在糖酵解、G2-M/E2F 与缺氧；diflorasone 与 beclomethasone 不反转 EMT 基因。Top-10 中 9/10 属于或很可能属于糖皮质激素，指向 NR3C1 类别假设；但阈值敏感性分析显示这只在 |log2FC|≥1 及更严时成立，放宽到 0.58 后 Top-10 只剩 3 个原候选，RAF/PI3K/mTOR 抑制剂（Hub 注释）进入，只有 hydrocortisone、beclomethasone、clocortolone 在 12 种设定下都留在 Top-10（docs/luad_threshold_sensitivity.md）。注意：Top-10 与通路基因来自同一签名，右图不是独立验证。预先冻结的参考药中 5 个可测，平均名次百分位 0.362，置换 p = 0.147，不显著——本筛选没有证明能恢复已知 LUAD 药物。A549 为 KRAS 突变细胞系，结果不能外推到患者。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50 秒。10 月 2 日经 Agent v2 实时重跑一次：7/10 分级与冻结版一致，hydrocortisone、mometasone、fluticasone 分级改变，仍无候选达到“有支持”；审阅代码后来加入引用范围检查，引语被拒 17/66，与冻结版不可直接比较。每个候选由文献 Agent、批评 Agent 和协调者处理。冻结版 65 条引语全部通过 PMID 与逐字校验、10/10 判为证据不足，共 22 次模型调用。事后来源/药名范围预筛标记 23 条；当前 PubMed 摘要级复核中 13 条原样候选级引用需排除，9 条仅能收窄终点保留，1 条仅作一般安全提示。错误包括勘误当原始研究、未指名类固醇归给具体候选、柚皮素抗癌结果误归给 fluticasone。冻结分级未重跑；这不是独立双人全文审阅。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50 秒。总结五点。Agent 一行：去掉大模型，Benchmark 分数和 Top-10 一个数字都不会变，因为数值计算全部由确定性代码完成；我们也测过让大模型挑方法、直接判断药物，结果都更差，后者还会泄漏答案。大模型的作用在规划和文字理解：多步规划中“只做一部分”的请求，规则只做对 2/8，大模型 8/8；中文风险备注规则只对 20/40，混合设计 39/40。但它对越权请求的拒绝（5/8）不如规则（7/8），所以安全靠代码层校验，不靠大模型。一句话：算法决定结果对不对，Agent 决定系统好不好用、敢不敢用。文献审阅方面，23 条是事后来源/药名范围预筛标记，并非 65 条都经过全文审阅；13 条原样候选级引用需排除，冻结药物分级未重算。独立外部方法选择 v3 的数据与标签门槛未通过，没有外部 NS-AUC 结果。Benchmark 分数只代表已知关联恢复能力；LUAD 候选是待验证的研究假设，不是用药建议。代码与所有结果见 GitHub 仓库。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2B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82880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药物重定位 Agent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749808" y="297180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CFE3E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从疾病转录组到可审计的候选药物：公开 Benchmark + 肺腺癌案例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749808" y="57607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9FB7B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课程设计答辩 · 2026 年 9 月 · 研究用途，不构成临床建议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问题与五个环节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45920"/>
            <a:ext cx="2057400" cy="3200400"/>
          </a:xfrm>
          <a:prstGeom prst="roundRect">
            <a:avLst>
              <a:gd name="adj" fmla="val 4444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28800"/>
            <a:ext cx="548640" cy="548640"/>
          </a:xfrm>
          <a:prstGeom prst="ellipse">
            <a:avLst/>
          </a:prstGeom>
          <a:solidFill>
            <a:srgbClr val="112B3C"/>
          </a:solidFill>
          <a:ln w="12700">
            <a:solidFill>
              <a:srgbClr val="112B3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6060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Problem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3154680"/>
            <a:ext cx="1737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表达反转能否找到候选药？Agent 能否可审计地完成全流程？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2807208" y="1645920"/>
            <a:ext cx="2057400" cy="3200400"/>
          </a:xfrm>
          <a:prstGeom prst="roundRect">
            <a:avLst>
              <a:gd name="adj" fmla="val 4444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990088" y="1828800"/>
            <a:ext cx="548640" cy="548640"/>
          </a:xfrm>
          <a:prstGeom prst="ellipse">
            <a:avLst/>
          </a:prstGeom>
          <a:solidFill>
            <a:srgbClr val="112B3C"/>
          </a:solidFill>
          <a:ln w="12700">
            <a:solidFill>
              <a:srgbClr val="112B3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990088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2990088" y="26060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Data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2990088" y="3154680"/>
            <a:ext cx="1737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TRANSCRIPT 613×151；GSE32863 肺腺癌配对；LINCS A549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065776" y="1645920"/>
            <a:ext cx="2057400" cy="3200400"/>
          </a:xfrm>
          <a:prstGeom prst="roundRect">
            <a:avLst>
              <a:gd name="adj" fmla="val 4444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248656" y="1828800"/>
            <a:ext cx="548640" cy="548640"/>
          </a:xfrm>
          <a:prstGeom prst="ellipse">
            <a:avLst/>
          </a:prstGeom>
          <a:solidFill>
            <a:srgbClr val="112B3C"/>
          </a:solidFill>
          <a:ln w="12700">
            <a:solidFill>
              <a:srgbClr val="112B3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248656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5248656" y="26060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Model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5248656" y="3154680"/>
            <a:ext cx="1737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LLM 规划 + 确定性工具 + 规则/LLM 决策门控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7324344" y="1645920"/>
            <a:ext cx="2057400" cy="3200400"/>
          </a:xfrm>
          <a:prstGeom prst="roundRect">
            <a:avLst>
              <a:gd name="adj" fmla="val 4444"/>
            </a:avLst>
          </a:prstGeom>
          <a:solidFill>
            <a:srgbClr val="087E78"/>
          </a:solidFill>
          <a:ln w="12700">
            <a:solidFill>
              <a:srgbClr val="087E7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507224" y="1828800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507224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87E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7507224" y="26060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Benchmark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7507224" y="3154680"/>
            <a:ext cx="1737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RECeSS 官方 Runner，100 种子 × 2 种拆分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9582912" y="1645920"/>
            <a:ext cx="2057400" cy="3200400"/>
          </a:xfrm>
          <a:prstGeom prst="roundRect">
            <a:avLst>
              <a:gd name="adj" fmla="val 4444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9765792" y="1828800"/>
            <a:ext cx="548640" cy="548640"/>
          </a:xfrm>
          <a:prstGeom prst="ellipse">
            <a:avLst/>
          </a:prstGeom>
          <a:solidFill>
            <a:srgbClr val="112B3C"/>
          </a:solidFill>
          <a:ln w="12700">
            <a:solidFill>
              <a:srgbClr val="112B3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765792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9765792" y="26060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Interpretation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9765792" y="3154680"/>
            <a:ext cx="1737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Top-10 机制、文献证据与多 Agent 审阅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548640" y="53492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边界：不训练新预测模型；Benchmark 分数只代表已知关联的恢复能力，不代表临床疗效。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数据与质量控制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200" dirty="0"/>
          </a:p>
        </p:txBody>
      </p:sp>
      <p:pic>
        <p:nvPicPr>
          <p:cNvPr id="5" name="Image 0" descr="docs/figures/fig6_data_overview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234440"/>
            <a:ext cx="7040880" cy="402336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7863840" y="1280160"/>
            <a:ext cx="3749040" cy="1234440"/>
          </a:xfrm>
          <a:prstGeom prst="roundRect">
            <a:avLst>
              <a:gd name="adj" fmla="val 592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046720" y="1389888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87E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613 × 151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8046720" y="2029968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TRANSCRIPT 药物 × 疾病候选空间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7863840" y="2697480"/>
            <a:ext cx="3749040" cy="1234440"/>
          </a:xfrm>
          <a:prstGeom prst="roundRect">
            <a:avLst>
              <a:gd name="adj" fmla="val 592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046720" y="2807208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E49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0.45%</a:t>
            </a:r>
            <a:endParaRPr lang="en-US" sz="2800" dirty="0"/>
          </a:p>
        </p:txBody>
      </p:sp>
      <p:sp>
        <p:nvSpPr>
          <p:cNvPr id="11" name="Text 7"/>
          <p:cNvSpPr txBox="1"/>
          <p:nvPr/>
        </p:nvSpPr>
        <p:spPr>
          <a:xfrm>
            <a:off x="8046720" y="3447288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已知关联占比（401 正 / 11 负，其余未知）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7863840" y="4114800"/>
            <a:ext cx="3749040" cy="1234440"/>
          </a:xfrm>
          <a:prstGeom prst="roundRect">
            <a:avLst>
              <a:gd name="adj" fmla="val 592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046720" y="4224528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87E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57 对</a:t>
            </a:r>
            <a:endParaRPr lang="en-US" sz="2800" dirty="0"/>
          </a:p>
        </p:txBody>
      </p:sp>
      <p:sp>
        <p:nvSpPr>
          <p:cNvPr id="14" name="Text 10"/>
          <p:cNvSpPr txBox="1"/>
          <p:nvPr/>
        </p:nvSpPr>
        <p:spPr>
          <a:xfrm>
            <a:off x="8046720" y="4864608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GSE32863 核实配对样本（排除 2 份）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548640" y="5577840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未知 ≠ 阴性：指标只在官方可评价的药物行上计算。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系统架构：LLM 规划，工具计算，代码校验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200" dirty="0"/>
          </a:p>
        </p:txBody>
      </p:sp>
      <p:pic>
        <p:nvPicPr>
          <p:cNvPr id="5" name="Image 0" descr="docs/figures/fig9_architectur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188720" y="1051560"/>
            <a:ext cx="9784080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自主规划：一句话 → 多步计划 → 失败后重新规划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365760" y="1188720"/>
          <a:ext cx="658368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7223760" y="12344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真实运行：排名首次失败后的重新规划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7223760" y="1737360"/>
            <a:ext cx="4480560" cy="868680"/>
          </a:xfrm>
          <a:prstGeom prst="roundRect">
            <a:avLst>
              <a:gd name="adj" fmla="val 631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360920" y="181051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87E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 轮计划（7 步）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7360920" y="212140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质控 → 差异表达 → 通路 → 排名 → 审计 → 文献 → 报告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7223760" y="2761488"/>
            <a:ext cx="4480560" cy="868680"/>
          </a:xfrm>
          <a:prstGeom prst="roundRect">
            <a:avLst>
              <a:gd name="adj" fmla="val 6316"/>
            </a:avLst>
          </a:prstGeom>
          <a:solidFill>
            <a:srgbClr val="F2E7E4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360920" y="283464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E49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执行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7360920" y="3145536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质控、差异表达、通路 ✓ ；排名 ✗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7223760" y="3785616"/>
            <a:ext cx="4480560" cy="868680"/>
          </a:xfrm>
          <a:prstGeom prst="roundRect">
            <a:avLst>
              <a:gd name="adj" fmla="val 631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360920" y="385876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87E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2 轮计划（4 步）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7360920" y="416966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排名 → 审计 → 文献 → 报告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7223760" y="4809744"/>
            <a:ext cx="4480560" cy="868680"/>
          </a:xfrm>
          <a:prstGeom prst="roundRect">
            <a:avLst>
              <a:gd name="adj" fmla="val 631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7360920" y="4882896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87E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7360920" y="519379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完成：completed；已完成步骤未重跑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发现：反转≈随机，提分来自对齐评价指标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188720"/>
          <a:ext cx="713232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7955280" y="1463040"/>
            <a:ext cx="37490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官方 NS-AUC 在每个药物行内比较疾病，同分记 0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旧 B2 按疾病列排序，流行度在行内是常数 → 失效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B3 改为行方向：疾病流行度 + 表达 kNN + 标签共现 + 反转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配置在正式评分前冻结；开发种子与官方种子不相交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第二轮 B4 = B3 + BNNR 移植（与作者结果逐种子一致），单独冻结后评分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Benchmark：B4 随机 1/13（与 BNNR 持平）、弱相关 3/13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1200" dirty="0"/>
          </a:p>
        </p:txBody>
      </p:sp>
      <p:pic>
        <p:nvPicPr>
          <p:cNvPr id="5" name="Image 0" descr="docs/figures/fig1_nsauc_boxplo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188720"/>
            <a:ext cx="11155680" cy="50749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为什么必须 Strict 模式：LLM 知识污染探针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188720"/>
          <a:ext cx="676656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7589520" y="1463040"/>
            <a:ext cx="411480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开卷 95% CI [0.526, 0.609]：唯一显著高于 0.5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高置信命中都是教科书适应症（如四环素类—痤疮）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开卷 − 闭卷 = 0.040，CI 跨 0：泄漏存在但幅度小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看得到药名的 LLM 会“背答案”，所以 Benchmark 必须在 Strict 模式下运行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决策层：规则 vs 通用 LLM vs Jev（实测）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365760" y="1188720"/>
          <a:ext cx="7772400" cy="4937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8321040" y="1280160"/>
            <a:ext cx="347472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v1 120 例：Jev 准确率 0.900 最高，Brier 0.147 最低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Jev + 门控：高风险误执行 0.000，但升级率 0.483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v2 混合层（Jev 判备注）39/40、0 高风险误执行；完整 Jev 32/40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混合设计换 flash / v4-pro / Jev 都是 0 高风险误执行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合成用例、单次运行；Jev 用免费版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肺腺癌案例：通路与机制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200" dirty="0"/>
          </a:p>
        </p:txBody>
      </p:sp>
      <p:pic>
        <p:nvPicPr>
          <p:cNvPr id="5" name="Image 0" descr="docs/figures/fig7_luad_pathway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188720"/>
            <a:ext cx="5760720" cy="4480560"/>
          </a:xfrm>
          <a:prstGeom prst="rect">
            <a:avLst/>
          </a:prstGeom>
        </p:spPr>
      </p:pic>
      <p:pic>
        <p:nvPicPr>
          <p:cNvPr id="6" name="Image 1" descr="docs/figures/fig8_top10_pathway_reversa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63640" y="1188720"/>
            <a:ext cx="5577840" cy="448056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548640" y="585216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9E49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预设阈值下 9/10 为糖皮质激素，但放宽阈值后被 RAF/PI3K/mTOR 抑制剂部分取代；参考药恢复 p = 0.147，不显著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 Agent 证据审阅：逐字引用 ≠ 论断成立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280160"/>
            <a:ext cx="2651760" cy="1234440"/>
          </a:xfrm>
          <a:prstGeom prst="roundRect">
            <a:avLst>
              <a:gd name="adj" fmla="val 592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38988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87E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65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02996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冻结版通过逐字校验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383280" y="1280160"/>
            <a:ext cx="2651760" cy="1234440"/>
          </a:xfrm>
          <a:prstGeom prst="roundRect">
            <a:avLst>
              <a:gd name="adj" fmla="val 592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566160" y="138988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E49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3566160" y="202996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事后范围预筛标记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17920" y="1280160"/>
            <a:ext cx="2651760" cy="1234440"/>
          </a:xfrm>
          <a:prstGeom prst="roundRect">
            <a:avLst>
              <a:gd name="adj" fmla="val 592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00800" y="138988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E49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2800" dirty="0"/>
          </a:p>
        </p:txBody>
      </p:sp>
      <p:sp>
        <p:nvSpPr>
          <p:cNvPr id="13" name="Text 10"/>
          <p:cNvSpPr txBox="1"/>
          <p:nvPr/>
        </p:nvSpPr>
        <p:spPr>
          <a:xfrm>
            <a:off x="6400800" y="202996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原样候选级引用需排除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9052560" y="1280160"/>
            <a:ext cx="2560320" cy="1234440"/>
          </a:xfrm>
          <a:prstGeom prst="roundRect">
            <a:avLst>
              <a:gd name="adj" fmla="val 592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235440" y="1389888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87E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10/10</a:t>
            </a:r>
            <a:endParaRPr lang="en-US" sz="2800" dirty="0"/>
          </a:p>
        </p:txBody>
      </p:sp>
      <p:sp>
        <p:nvSpPr>
          <p:cNvPr id="16" name="Text 13"/>
          <p:cNvSpPr txBox="1"/>
          <p:nvPr/>
        </p:nvSpPr>
        <p:spPr>
          <a:xfrm>
            <a:off x="9235440" y="202996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冻结分级：未重新计算</a:t>
            </a:r>
            <a:endParaRPr lang="en-US" sz="1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743200"/>
          <a:ext cx="1106424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3840480"/>
                <a:gridCol w="2011680"/>
                <a:gridCol w="438912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排名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B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候选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B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冻结分级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B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 条中的摘要级审计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B3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hydrocortisone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排除 1；限定范围 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beclomethasone-dipropionate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排除 3；限定范围 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clocortolone-pivalate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排除 1；限定范围 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mometasone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排除 0；限定范围 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flumetasone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排除 1；限定范围 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BRD-K84203638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本轮未标记（不等于已全面核验）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hydrocortisone-hemisuccinate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排除 1；限定范围 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fluorometholone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排除 4；限定范围 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fluticasone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排除 2；限定范围 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diflorasone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本轮未标记（不等于已全面核验）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2B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结论与局限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4630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9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负结果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286000" y="146304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纯表达反转在 TRANSCRIPT 上 ≈ 随机（官方 NS-AUC 0.482）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774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9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提分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2286000" y="237744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对齐指标方向并集成 BNNR 后 B4 随机拆分第 1/13、弱相关第 3/13；随机拆分与 BNNR 持平（校正检验不显著），弱相关未超过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2918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9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可信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2286000" y="329184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Strict 模式隔离标签；探针证实 LLM 看到药名会“背答案”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42062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9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2286000" y="420624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去掉大模型分数不变；它负责理解请求与文字（部分任务：规则 2/8 → 大模型 8/8）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51206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2B8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局限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2286000" y="512064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只支持登记疾病（目前仅肺腺癌）；细胞系 ≠ 患者；未知 ≠ 阴性；外部 v3 未跑；无湿实验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药物重定位 Agent 答辩 v7</dc:title>
  <dc:subject>PptxGenJS Presentation</dc:subject>
  <dc:creator>PptxGenJS</dc:creator>
  <cp:lastModifiedBy>PptxGenJS</cp:lastModifiedBy>
  <cp:revision>1</cp:revision>
  <dcterms:created xsi:type="dcterms:W3CDTF">2026-10-03T07:55:11Z</dcterms:created>
  <dcterms:modified xsi:type="dcterms:W3CDTF">2026-10-03T07:55:11Z</dcterms:modified>
</cp:coreProperties>
</file>