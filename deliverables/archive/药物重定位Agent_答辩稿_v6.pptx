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随机拆分</c:v>
          </c:tx>
          <c:spPr>
            <a:solidFill>
              <a:srgbClr val="4776A1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>
                    <a:latin typeface="Microsoft YaHei"/>
                    <a:ea typeface="Microsoft YaHei"/>
                    <a:cs typeface="Microsoft YaHei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Data'!$A$2:$A$5</c:f>
              <c:strCache>
                <c:ptCount val="4"/>
                <c:pt idx="0">
                  <c:v>B1 表达反转</c:v>
                </c:pt>
                <c:pt idx="1">
                  <c:v>B0p 训练流行度</c:v>
                </c:pt>
                <c:pt idx="2">
                  <c:v>B2 固定融合</c:v>
                </c:pt>
                <c:pt idx="3">
                  <c:v>LogisticMF 论文结果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48.16</c:v>
                </c:pt>
                <c:pt idx="1">
                  <c:v>50</c:v>
                </c:pt>
                <c:pt idx="2">
                  <c:v>52.22</c:v>
                </c:pt>
                <c:pt idx="3">
                  <c:v>67.040000000000006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D7CC-4536-8CA7-D8FE532343B5}"/>
            </c:ext>
          </c:extLst>
        </c:ser>
        <c:ser>
          <c:idx val="1"/>
          <c:order val="1"/>
          <c:tx>
            <c:v>弱相关拆分</c:v>
          </c:tx>
          <c:spPr>
            <a:solidFill>
              <a:srgbClr val="087E78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>
                    <a:latin typeface="Microsoft YaHei"/>
                    <a:ea typeface="Microsoft YaHei"/>
                    <a:cs typeface="Microsoft YaHei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Data'!$C$2:$C$5</c:f>
              <c:strCache>
                <c:ptCount val="4"/>
                <c:pt idx="0">
                  <c:v>B1 表达反转</c:v>
                </c:pt>
                <c:pt idx="1">
                  <c:v>B0p 训练流行度</c:v>
                </c:pt>
                <c:pt idx="2">
                  <c:v>B2 固定融合</c:v>
                </c:pt>
                <c:pt idx="3">
                  <c:v>LogisticMF 论文结果</c:v>
                </c:pt>
              </c:strCache>
            </c:strRef>
          </c:cat>
          <c:val>
            <c:numRef>
              <c:f>'Chart Data'!$D$2:$D$5</c:f>
              <c:numCache>
                <c:formatCode>General</c:formatCode>
                <c:ptCount val="4"/>
                <c:pt idx="0">
                  <c:v>54.17</c:v>
                </c:pt>
                <c:pt idx="1">
                  <c:v>50</c:v>
                </c:pt>
                <c:pt idx="2">
                  <c:v>50.19</c:v>
                </c:pt>
                <c:pt idx="3">
                  <c:v>65.75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D7CC-4536-8CA7-D8FE532343B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00"/>
          <c:min val="0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50112"/>
        <c:crosses val="autoZero"/>
        <c:crossBetween val="between"/>
        <c:majorUnit val="20"/>
      </c:valAx>
    </c:plotArea>
    <c:legend>
      <c:legendPos val="b"/>
      <c:overlay val="0"/>
      <c:txPr>
        <a:bodyPr anchorCtr="1"/>
        <a:lstStyle/>
        <a:p>
          <a:pPr>
            <a:defRPr>
              <a:latin typeface="Microsoft YaHei"/>
              <a:ea typeface="Microsoft YaHei"/>
              <a:cs typeface="Microsoft YaHei"/>
            </a:defRPr>
          </a:pPr>
          <a:endParaRPr lang="zh-CN"/>
        </a:p>
      </c:txPr>
    </c:legend>
    <c:plotVisOnly val="1"/>
    <c:dispBlanksAs val="zero"/>
    <c:showDLblsOverMax val="1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前十名数量</c:v>
          </c:tx>
          <c:spPr>
            <a:solidFill>
              <a:srgbClr val="087E78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>
                    <a:latin typeface="Microsoft YaHei"/>
                    <a:ea typeface="Microsoft YaHei"/>
                    <a:cs typeface="Microsoft YaHei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Data'!$A$2:$A$6</c:f>
              <c:strCache>
                <c:ptCount val="5"/>
                <c:pt idx="0">
                  <c:v>精确 InChIKey</c:v>
                </c:pt>
                <c:pt idx="1">
                  <c:v>立体差异</c:v>
                </c:pt>
                <c:pt idx="2">
                  <c:v>身份不符</c:v>
                </c:pt>
                <c:pt idx="3">
                  <c:v>同名多 ID</c:v>
                </c:pt>
                <c:pt idx="4">
                  <c:v>无 Hub 样品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1</c:v>
                </c:pt>
                <c:pt idx="3">
                  <c:v>2</c:v>
                </c:pt>
                <c:pt idx="4">
                  <c:v>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AA70-4535-B0F2-57AAA3621A9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8650112"/>
        <c:crosses val="autoZero"/>
        <c:crossBetween val="between"/>
      </c:valAx>
    </c:plotArea>
    <c:plotVisOnly val="1"/>
    <c:dispBlanksAs val="zero"/>
    <c:showDLblsOverMax val="1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内容基于仓库计划、已保存的基准结果、LUAD 案例报告和课程任务 PDF。课程要求覆盖 Problem、Data、Model、Benchmark、Biological interpretation 五个环节，提交 GitHub 代码并进行约 10 分钟汇报。研究用途，不构成临床建议。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计划来源：药物重定位Agent项目计划.md。表达反转和临床疗效的区别见 docs/limitations.md。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GEO GSE32863: https://www.ncbi.nlm.nih.gov/geo/query/acc.cgi?acc=GSE32863
GSE92742: https://www.ncbi.nlm.nih.gov/geo/query/acc.cgi?acc=GSE92742
EH3226 </a:t>
            </a:r>
            <a:r>
              <a:rPr lang="zh-CN" altLang="en-US"/>
              <a:t>构建方法与签名 </a:t>
            </a:r>
            <a:r>
              <a:rPr lang="en-US"/>
              <a:t>ID </a:t>
            </a:r>
            <a:r>
              <a:rPr lang="zh-CN" altLang="en-US"/>
              <a:t>重建见 </a:t>
            </a:r>
            <a:r>
              <a:rPr lang="en-US"/>
              <a:t>data/manifests/eh3226-luad.json、data/manifests/luad-top10-signatures-v1.json </a:t>
            </a:r>
            <a:r>
              <a:rPr lang="zh-CN" altLang="en-US"/>
              <a:t>和 </a:t>
            </a:r>
            <a:r>
              <a:rPr lang="en-US"/>
              <a:t>configs/luad_top10_signature_ids.csv。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方法与冻结规则：docs/evaluation_protocol.md、docs/luad_screening_report.md。limma 用户指南：https://bioconductor.org/packages/release/bioc/vignettes/limma/inst/doc/usersguide.pdf。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TRANSCRIPT v2.0.0</a:t>
            </a:r>
            <a:r>
              <a:rPr lang="zh-CN" altLang="en-US"/>
              <a:t>、官方 </a:t>
            </a:r>
            <a:r>
              <a:rPr lang="en-US" altLang="zh-CN"/>
              <a:t>Runner 100 </a:t>
            </a:r>
            <a:r>
              <a:rPr lang="zh-CN" altLang="en-US"/>
              <a:t>同序种子、五折选模。</a:t>
            </a:r>
            <a:r>
              <a:rPr lang="en-US" altLang="zh-CN"/>
              <a:t>B2 </a:t>
            </a:r>
            <a:r>
              <a:rPr lang="zh-CN" altLang="en-US"/>
              <a:t>官方随机</a:t>
            </a:r>
            <a:r>
              <a:rPr lang="en-US" altLang="zh-CN"/>
              <a:t>/</a:t>
            </a:r>
            <a:r>
              <a:rPr lang="zh-CN" altLang="en-US"/>
              <a:t>弱相关 </a:t>
            </a:r>
            <a:r>
              <a:rPr lang="en-US" altLang="zh-CN"/>
              <a:t>NS-AUC 0.5222/0.5019</a:t>
            </a:r>
            <a:r>
              <a:rPr lang="zh-CN" altLang="en-US"/>
              <a:t>，分别列 </a:t>
            </a:r>
            <a:r>
              <a:rPr lang="en-US" altLang="zh-CN"/>
              <a:t>9/12 </a:t>
            </a:r>
            <a:r>
              <a:rPr lang="zh-CN" altLang="en-US"/>
              <a:t>和 </a:t>
            </a:r>
            <a:r>
              <a:rPr lang="en-US" altLang="zh-CN"/>
              <a:t>8/12</a:t>
            </a:r>
            <a:r>
              <a:rPr lang="zh-CN" altLang="en-US"/>
              <a:t>；不能与全局 </a:t>
            </a:r>
            <a:r>
              <a:rPr lang="en-US" altLang="zh-CN"/>
              <a:t>AUC </a:t>
            </a:r>
            <a:r>
              <a:rPr lang="zh-CN" altLang="en-US"/>
              <a:t>混比。</a:t>
            </a:r>
            <a:r>
              <a:rPr lang="en-US" altLang="zh-CN"/>
              <a:t>B1k </a:t>
            </a:r>
            <a:r>
              <a:rPr lang="zh-CN" altLang="en-US"/>
              <a:t>官方得分很低；在各复算的一个冻结种子上，分数和保存值精确相符，大量正负对同分，官方严格比较同分记零；反向分数更差。该诊断不替换 </a:t>
            </a:r>
            <a:r>
              <a:rPr lang="en-US" altLang="zh-CN"/>
              <a:t>100 </a:t>
            </a:r>
            <a:r>
              <a:rPr lang="zh-CN" altLang="en-US"/>
              <a:t>次官方数值。弱相关 </a:t>
            </a:r>
            <a:r>
              <a:rPr lang="en-US" altLang="zh-CN"/>
              <a:t>100 </a:t>
            </a:r>
            <a:r>
              <a:rPr lang="zh-CN" altLang="en-US"/>
              <a:t>种子复用同一个外层测试集。来源：</a:t>
            </a:r>
            <a:r>
              <a:rPr lang="en-US" altLang="zh-CN"/>
              <a:t>docs/benchmark_results.md</a:t>
            </a:r>
            <a:r>
              <a:rPr lang="zh-CN" altLang="en-US"/>
              <a:t>、</a:t>
            </a:r>
            <a:r>
              <a:rPr lang="en-US" altLang="zh-CN"/>
              <a:t>docs/b1k_metric_audit.md</a:t>
            </a:r>
            <a:r>
              <a:rPr lang="zh-CN" altLang="en-US"/>
              <a:t>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完整 4,920 名排序和对照结果由 scripts/rank_luad_eh3226.py 生成；方法与限制见 docs/luad_screening_report.md。参考药名在排序前冻结于 configs/luad_positive_controls.csv。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逐签名交叉表：</a:t>
            </a:r>
            <a:r>
              <a:rPr lang="en-US"/>
              <a:t>configs/luad_top10_signature_ids.csv。</a:t>
            </a:r>
            <a:r>
              <a:rPr lang="zh-CN" altLang="en-US"/>
              <a:t>重建依据是 </a:t>
            </a:r>
            <a:r>
              <a:rPr lang="en-US"/>
              <a:t>GSE92742 </a:t>
            </a:r>
            <a:r>
              <a:rPr lang="zh-CN" altLang="en-US"/>
              <a:t>校验固定的 </a:t>
            </a:r>
            <a:r>
              <a:rPr lang="en-US"/>
              <a:t>sig_info/pert_info </a:t>
            </a:r>
            <a:r>
              <a:rPr lang="zh-CN" altLang="en-US"/>
              <a:t>和 </a:t>
            </a:r>
            <a:r>
              <a:rPr lang="en-US"/>
              <a:t>EH3226 </a:t>
            </a:r>
            <a:r>
              <a:rPr lang="zh-CN" altLang="en-US"/>
              <a:t>发布的源顺序去重规则。图表显示恢复精确 </a:t>
            </a:r>
            <a:r>
              <a:rPr lang="en-US"/>
              <a:t>GSE </a:t>
            </a:r>
            <a:r>
              <a:rPr lang="zh-CN" altLang="en-US"/>
              <a:t>签名后仍存在的 </a:t>
            </a:r>
            <a:r>
              <a:rPr lang="en-US"/>
              <a:t>Broad Repurposing Hub </a:t>
            </a:r>
            <a:r>
              <a:rPr lang="zh-CN" altLang="en-US"/>
              <a:t>跨来源核对状态。候选级支持与反对证据见 </a:t>
            </a:r>
            <a:r>
              <a:rPr lang="en-US"/>
              <a:t>docs/luad_top10_evidence_matrix.md。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历史冻结 </a:t>
            </a:r>
            <a:r>
              <a:rPr lang="en-US"/>
              <a:t>v3 </a:t>
            </a:r>
            <a:r>
              <a:rPr lang="zh-CN" altLang="en-US"/>
              <a:t>规划</a:t>
            </a:r>
            <a:r>
              <a:rPr lang="en-US" altLang="zh-CN"/>
              <a:t>/</a:t>
            </a:r>
            <a:r>
              <a:rPr lang="zh-CN" altLang="en-US"/>
              <a:t>工具调用 </a:t>
            </a:r>
            <a:r>
              <a:rPr lang="en-US"/>
              <a:t>holdout：</a:t>
            </a:r>
            <a:r>
              <a:rPr lang="zh-CN" altLang="en-US"/>
              <a:t>规则 </a:t>
            </a:r>
            <a:r>
              <a:rPr lang="en-US" altLang="zh-CN"/>
              <a:t>90/100</a:t>
            </a:r>
            <a:r>
              <a:rPr lang="zh-CN" altLang="en-US"/>
              <a:t>，</a:t>
            </a:r>
            <a:r>
              <a:rPr lang="en-US"/>
              <a:t>DeepSeek 98/100；</a:t>
            </a:r>
            <a:r>
              <a:rPr lang="zh-CN" altLang="en-US"/>
              <a:t>旧 </a:t>
            </a:r>
            <a:r>
              <a:rPr lang="en-US"/>
              <a:t>DeepSeek </a:t>
            </a:r>
            <a:r>
              <a:rPr lang="zh-CN" altLang="en-US"/>
              <a:t>原始 </a:t>
            </a:r>
            <a:r>
              <a:rPr lang="en-US"/>
              <a:t>provider trace </a:t>
            </a:r>
            <a:r>
              <a:rPr lang="zh-CN" altLang="en-US"/>
              <a:t>不可补造。新规则逐条 </a:t>
            </a:r>
            <a:r>
              <a:rPr lang="en-US"/>
              <a:t>trace </a:t>
            </a:r>
            <a:r>
              <a:rPr lang="zh-CN" altLang="en-US"/>
              <a:t>回归同为 </a:t>
            </a:r>
            <a:r>
              <a:rPr lang="en-US" altLang="zh-CN"/>
              <a:t>90/100</a:t>
            </a:r>
            <a:r>
              <a:rPr lang="zh-CN" altLang="en-US"/>
              <a:t>，并非第二份独立 </a:t>
            </a:r>
            <a:r>
              <a:rPr lang="en-US"/>
              <a:t>holdout。</a:t>
            </a:r>
            <a:r>
              <a:rPr lang="zh-CN" altLang="en-US"/>
              <a:t>另对历史 </a:t>
            </a:r>
            <a:r>
              <a:rPr lang="en-US"/>
              <a:t>LUAD </a:t>
            </a:r>
            <a:r>
              <a:rPr lang="zh-CN" altLang="en-US"/>
              <a:t>研究行动分诊单例做身份、引文范围和弃权检查，三项行动均通过；这不是新的 </a:t>
            </a:r>
            <a:r>
              <a:rPr lang="en-US"/>
              <a:t>Agent holdout、</a:t>
            </a:r>
            <a:r>
              <a:rPr lang="zh-CN" altLang="en-US"/>
              <a:t>药效或临床准确率。来源：</a:t>
            </a:r>
            <a:r>
              <a:rPr lang="en-US"/>
              <a:t>docs/planner_eval_results.md、artifacts/reports/luad_research_triage_grade.json。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五分区 </a:t>
            </a:r>
            <a:r>
              <a:rPr lang="en-US" altLang="zh-CN"/>
              <a:t>15 </a:t>
            </a:r>
            <a:r>
              <a:rPr lang="zh-CN" altLang="en-US"/>
              <a:t>条选择在结果计算前冻结，</a:t>
            </a:r>
            <a:r>
              <a:rPr lang="en-US" altLang="zh-CN"/>
              <a:t>provider-visible trace 15/15 </a:t>
            </a:r>
            <a:r>
              <a:rPr lang="zh-CN" altLang="en-US"/>
              <a:t>核对。原始官方协议因第二分区仅一条明确负例无法分层而失败；单独标注的事后正例</a:t>
            </a:r>
            <a:r>
              <a:rPr lang="en-US" altLang="zh-CN"/>
              <a:t>/</a:t>
            </a:r>
            <a:r>
              <a:rPr lang="zh-CN" altLang="en-US"/>
              <a:t>未知修订实验完成五分区、四方法、</a:t>
            </a:r>
            <a:r>
              <a:rPr lang="en-US" altLang="zh-CN"/>
              <a:t>20 </a:t>
            </a:r>
            <a:r>
              <a:rPr lang="zh-CN" altLang="en-US"/>
              <a:t>外层种子和五折选模。</a:t>
            </a:r>
            <a:r>
              <a:rPr lang="en-US" altLang="zh-CN"/>
              <a:t>DeepSeek </a:t>
            </a:r>
            <a:r>
              <a:rPr lang="zh-CN" altLang="en-US"/>
              <a:t>所选方法平均 </a:t>
            </a:r>
            <a:r>
              <a:rPr lang="en-US" altLang="zh-CN"/>
              <a:t>NS-AUC 0.40653</a:t>
            </a:r>
            <a:r>
              <a:rPr lang="zh-CN" altLang="en-US"/>
              <a:t>，固定 </a:t>
            </a:r>
            <a:r>
              <a:rPr lang="en-US" altLang="zh-CN"/>
              <a:t>B2 0.51684</a:t>
            </a:r>
            <a:r>
              <a:rPr lang="zh-CN" altLang="en-US"/>
              <a:t>，分区配对均差 −</a:t>
            </a:r>
            <a:r>
              <a:rPr lang="en-US" altLang="zh-CN"/>
              <a:t>0.11031</a:t>
            </a:r>
            <a:r>
              <a:rPr lang="zh-CN" altLang="en-US"/>
              <a:t>，</a:t>
            </a:r>
            <a:r>
              <a:rPr lang="en-US" altLang="zh-CN"/>
              <a:t>0/5 </a:t>
            </a:r>
            <a:r>
              <a:rPr lang="zh-CN" altLang="en-US"/>
              <a:t>分区为正。修订结果不是原预注册协议，也不属独立外部数据。下一步需要独立数据以及外层训练集内的交叉验证证据；已看过的五分区不能再作为新 </a:t>
            </a:r>
            <a:r>
              <a:rPr lang="en-US" altLang="zh-CN"/>
              <a:t>holdout</a:t>
            </a:r>
            <a:r>
              <a:rPr lang="zh-CN" altLang="en-US"/>
              <a:t>。</a:t>
            </a:r>
            <a:r>
              <a:rPr lang="en-US" altLang="zh-CN"/>
              <a:t>LUAD Top-10 </a:t>
            </a:r>
            <a:r>
              <a:rPr lang="zh-CN" altLang="en-US"/>
              <a:t>仅为研究假设，未做湿实验。来源：</a:t>
            </a:r>
            <a:r>
              <a:rPr lang="en-US" altLang="zh-CN"/>
              <a:t>docs/method_selection_partition_v2.md</a:t>
            </a:r>
            <a:r>
              <a:rPr lang="zh-CN" altLang="en-US"/>
              <a:t>、</a:t>
            </a:r>
            <a:r>
              <a:rPr lang="en-US" altLang="zh-CN"/>
              <a:t>docs/method_selection_v3_protocol.md</a:t>
            </a:r>
            <a:r>
              <a:rPr lang="zh-CN" altLang="en-US"/>
              <a:t>、</a:t>
            </a:r>
            <a:r>
              <a:rPr lang="en-US" altLang="zh-CN"/>
              <a:t>artifacts/reports/method_selection_partition_v2_positive_only_score.json</a:t>
            </a:r>
            <a:r>
              <a:rPr lang="zh-CN" altLang="en-US"/>
              <a:t>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6DFAF6DD-BEDE-4AAF-A4F7-65A4B49ADB7D}"/>
              </a:ext>
            </a:extLst>
          </p:cNvPr>
          <p:cNvSpPr>
            <a:spLocks noGrp="1"/>
          </p:cNvSpPr>
          <p:nvPr/>
        </p:nvSpPr>
        <p:spPr>
          <a:xfrm>
            <a:off x="723900" y="1809750"/>
            <a:ext cx="1066800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药物重定位 Agent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EF96721-DD5D-4FFE-863F-06A04AC5610C}"/>
              </a:ext>
            </a:extLst>
          </p:cNvPr>
          <p:cNvSpPr>
            <a:spLocks noGrp="1"/>
          </p:cNvSpPr>
          <p:nvPr/>
        </p:nvSpPr>
        <p:spPr>
          <a:xfrm>
            <a:off x="762000" y="2952750"/>
            <a:ext cx="1047750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公开基准与肺腺癌研究案例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2784765-2192-487F-A47E-910784B17149}"/>
              </a:ext>
            </a:extLst>
          </p:cNvPr>
          <p:cNvSpPr>
            <a:spLocks noGrp="1"/>
          </p:cNvSpPr>
          <p:nvPr/>
        </p:nvSpPr>
        <p:spPr>
          <a:xfrm>
            <a:off x="781050" y="5572125"/>
            <a:ext cx="99060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BBD5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BBD5D3"/>
                </a:solidFill>
                <a:latin typeface="Microsoft YaHei"/>
                <a:ea typeface="Microsoft YaHei"/>
                <a:cs typeface="Microsoft YaHei"/>
              </a:rPr>
              <a:t>课程设计答辩  2026 年 9 月</a:t>
            </a:r>
          </a:p>
        </p:txBody>
      </p:sp>
    </p:spTree>
    <p:extLst>
      <p:ext uri="{BB962C8B-B14F-4D97-AF65-F5344CB8AC3E}">
        <p14:creationId xmlns:p14="http://schemas.microsoft.com/office/powerpoint/2010/main" val="10155185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3E084FEA-F9D6-4202-8941-80F6F326B6A1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8204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225" b="1">
                <a:solidFill>
                  <a:srgbClr val="112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12B3C"/>
                </a:solidFill>
                <a:latin typeface="Microsoft YaHei"/>
                <a:ea typeface="Microsoft YaHei"/>
                <a:cs typeface="Microsoft YaHei"/>
              </a:rPr>
              <a:t>研究问题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9129E3B-12E9-4EFA-B3FB-70587DFAA642}"/>
              </a:ext>
            </a:extLst>
          </p:cNvPr>
          <p:cNvSpPr>
            <a:spLocks noGrp="1"/>
          </p:cNvSpPr>
          <p:nvPr/>
        </p:nvSpPr>
        <p:spPr>
          <a:xfrm>
            <a:off x="10820400" y="6229350"/>
            <a:ext cx="6858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185BFDE-734A-4D81-BBBE-59B1C26B30B5}"/>
              </a:ext>
            </a:extLst>
          </p:cNvPr>
          <p:cNvSpPr>
            <a:spLocks noGrp="1"/>
          </p:cNvSpPr>
          <p:nvPr/>
        </p:nvSpPr>
        <p:spPr>
          <a:xfrm>
            <a:off x="742950" y="1714500"/>
            <a:ext cx="10572750" cy="819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1">
                <a:solidFill>
                  <a:srgbClr val="08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87E78"/>
                </a:solidFill>
                <a:latin typeface="Microsoft YaHei"/>
                <a:ea typeface="Microsoft YaHei"/>
                <a:cs typeface="Microsoft YaHei"/>
              </a:rPr>
              <a:t>表达反转能否改善公开基准上的药物排序？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095F63C-6F70-41A5-88C7-4DE0F5FCE678}"/>
              </a:ext>
            </a:extLst>
          </p:cNvPr>
          <p:cNvSpPr>
            <a:spLocks noGrp="1"/>
          </p:cNvSpPr>
          <p:nvPr/>
        </p:nvSpPr>
        <p:spPr>
          <a:xfrm>
            <a:off x="742950" y="3028950"/>
            <a:ext cx="105727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1">
                <a:solidFill>
                  <a:srgbClr val="112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12B3C"/>
                </a:solidFill>
                <a:latin typeface="Microsoft YaHei"/>
                <a:ea typeface="Microsoft YaHei"/>
                <a:cs typeface="Microsoft YaHei"/>
              </a:rPr>
              <a:t>肺腺癌候选能否从输入数据追踪到身份与文献证据？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9B457E-2489-4D60-BE00-BBFA057155AE}"/>
              </a:ext>
            </a:extLst>
          </p:cNvPr>
          <p:cNvSpPr>
            <a:spLocks noGrp="1"/>
          </p:cNvSpPr>
          <p:nvPr/>
        </p:nvSpPr>
        <p:spPr>
          <a:xfrm>
            <a:off x="762000" y="5010150"/>
            <a:ext cx="1038225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rPr>
              <a:t>评价重点：排名表现、数据溯源、证据边界</a:t>
            </a:r>
          </a:p>
        </p:txBody>
      </p:sp>
    </p:spTree>
    <p:extLst>
      <p:ext uri="{BB962C8B-B14F-4D97-AF65-F5344CB8AC3E}">
        <p14:creationId xmlns:p14="http://schemas.microsoft.com/office/powerpoint/2010/main" val="15486056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0224E803-4073-431D-8AB7-19D7DB9085AB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8204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225" b="1">
                <a:solidFill>
                  <a:srgbClr val="112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12B3C"/>
                </a:solidFill>
                <a:latin typeface="Microsoft YaHei"/>
                <a:ea typeface="Microsoft YaHei"/>
                <a:cs typeface="Microsoft YaHei"/>
              </a:rPr>
              <a:t>数据与质量控制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0931BEF-F75E-4329-B9CC-C1025FBA4FEC}"/>
              </a:ext>
            </a:extLst>
          </p:cNvPr>
          <p:cNvSpPr>
            <a:spLocks noGrp="1"/>
          </p:cNvSpPr>
          <p:nvPr/>
        </p:nvSpPr>
        <p:spPr>
          <a:xfrm>
            <a:off x="10820400" y="6229350"/>
            <a:ext cx="6858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B84BA06-6BBE-4912-9944-A3E466CE1B55}"/>
              </a:ext>
            </a:extLst>
          </p:cNvPr>
          <p:cNvSpPr>
            <a:spLocks noGrp="1"/>
          </p:cNvSpPr>
          <p:nvPr/>
        </p:nvSpPr>
        <p:spPr>
          <a:xfrm>
            <a:off x="723900" y="1695450"/>
            <a:ext cx="457200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350" b="1">
                <a:solidFill>
                  <a:srgbClr val="08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087E78"/>
                </a:solidFill>
                <a:latin typeface="Microsoft YaHei"/>
                <a:ea typeface="Microsoft YaHei"/>
                <a:cs typeface="Microsoft YaHei"/>
              </a:rPr>
              <a:t>57 对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AAD9C00-93AE-47D7-B071-6882E87E9DE4}"/>
              </a:ext>
            </a:extLst>
          </p:cNvPr>
          <p:cNvSpPr>
            <a:spLocks noGrp="1"/>
          </p:cNvSpPr>
          <p:nvPr/>
        </p:nvSpPr>
        <p:spPr>
          <a:xfrm>
            <a:off x="742950" y="2686050"/>
            <a:ext cx="476250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8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3042"/>
                </a:solidFill>
                <a:latin typeface="Microsoft YaHei"/>
                <a:ea typeface="Microsoft YaHei"/>
                <a:cs typeface="Microsoft YaHei"/>
              </a:rPr>
              <a:t>GSE32863 肿瘤与邻近正常组织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68DA212-BF12-467F-BFA2-15B7C3205ACF}"/>
              </a:ext>
            </a:extLst>
          </p:cNvPr>
          <p:cNvSpPr>
            <a:spLocks noGrp="1"/>
          </p:cNvSpPr>
          <p:nvPr/>
        </p:nvSpPr>
        <p:spPr>
          <a:xfrm>
            <a:off x="742950" y="3333750"/>
            <a:ext cx="476250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rPr>
              <a:t>2 份患者编号无法配对的样本已排除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36207EB-697E-4726-81EC-AEE22A66149C}"/>
              </a:ext>
            </a:extLst>
          </p:cNvPr>
          <p:cNvSpPr>
            <a:spLocks noGrp="1"/>
          </p:cNvSpPr>
          <p:nvPr/>
        </p:nvSpPr>
        <p:spPr>
          <a:xfrm>
            <a:off x="6496050" y="1695450"/>
            <a:ext cx="476250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350" b="1">
                <a:solidFill>
                  <a:srgbClr val="08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087E78"/>
                </a:solidFill>
                <a:latin typeface="Microsoft YaHei"/>
                <a:ea typeface="Microsoft YaHei"/>
                <a:cs typeface="Microsoft YaHei"/>
              </a:rPr>
              <a:t>4,920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0C0298E-5338-4649-A0B8-AEE748B8CD86}"/>
              </a:ext>
            </a:extLst>
          </p:cNvPr>
          <p:cNvSpPr>
            <a:spLocks noGrp="1"/>
          </p:cNvSpPr>
          <p:nvPr/>
        </p:nvSpPr>
        <p:spPr>
          <a:xfrm>
            <a:off x="6496050" y="2686050"/>
            <a:ext cx="4714875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8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3042"/>
                </a:solidFill>
                <a:latin typeface="Microsoft YaHei"/>
                <a:ea typeface="Microsoft YaHei"/>
                <a:cs typeface="Microsoft YaHei"/>
              </a:rPr>
              <a:t>A549 药名扰动签名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97B5778-CBEC-4399-BE2C-C274C17EF004}"/>
              </a:ext>
            </a:extLst>
          </p:cNvPr>
          <p:cNvSpPr>
            <a:spLocks noGrp="1"/>
          </p:cNvSpPr>
          <p:nvPr/>
        </p:nvSpPr>
        <p:spPr>
          <a:xfrm>
            <a:off x="6496050" y="3333750"/>
            <a:ext cx="47625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575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rPr>
              <a:t>961 </a:t>
            </a:r>
            <a:r>
              <a:rPr lang="zh-CN" altLang="en-US" sz="1575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rPr>
              <a:t>个重合 </a:t>
            </a:r>
            <a:r>
              <a:rPr lang="en-US" sz="1575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rPr>
              <a:t>landmark </a:t>
            </a:r>
            <a:r>
              <a:rPr lang="zh-CN" altLang="en-US" sz="1575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rPr>
              <a:t>基因，</a:t>
            </a:r>
            <a:r>
              <a:rPr lang="en-US" sz="1575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rPr>
              <a:t>Top-10 </a:t>
            </a:r>
            <a:r>
              <a:rPr lang="zh-CN" altLang="en-US" sz="1575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rPr>
              <a:t>精确签名 </a:t>
            </a:r>
            <a:r>
              <a:rPr lang="en-US" sz="1575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rPr>
              <a:t>ID </a:t>
            </a:r>
            <a:r>
              <a:rPr lang="zh-CN" altLang="en-US" sz="1575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rPr>
              <a:t>已恢复</a:t>
            </a:r>
            <a:endParaRPr sz="1575" b="0">
              <a:solidFill>
                <a:srgbClr val="53667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E05ADE9-5EBC-492D-AD69-DD6874168A92}"/>
              </a:ext>
            </a:extLst>
          </p:cNvPr>
          <p:cNvSpPr>
            <a:spLocks noGrp="1"/>
          </p:cNvSpPr>
          <p:nvPr/>
        </p:nvSpPr>
        <p:spPr>
          <a:xfrm>
            <a:off x="742950" y="4953000"/>
            <a:ext cx="1057275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112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2B3C"/>
                </a:solidFill>
                <a:latin typeface="Microsoft YaHei"/>
                <a:ea typeface="Microsoft YaHei"/>
                <a:cs typeface="Microsoft YaHei"/>
              </a:rPr>
              <a:t>配对 limma 与 t 检验得到相同阈值基因集：上调 512，下调 749</a:t>
            </a:r>
          </a:p>
        </p:txBody>
      </p:sp>
    </p:spTree>
    <p:extLst>
      <p:ext uri="{BB962C8B-B14F-4D97-AF65-F5344CB8AC3E}">
        <p14:creationId xmlns:p14="http://schemas.microsoft.com/office/powerpoint/2010/main" val="7542480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99D79972-0ABF-4DE7-81EC-D6E80B4BA3A2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8204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225" b="1">
                <a:solidFill>
                  <a:srgbClr val="112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12B3C"/>
                </a:solidFill>
                <a:latin typeface="Microsoft YaHei"/>
                <a:ea typeface="Microsoft YaHei"/>
                <a:cs typeface="Microsoft YaHei"/>
              </a:rPr>
              <a:t>固定的分析方法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2A3AAEA-54A2-4C45-86DA-CC80B84BE641}"/>
              </a:ext>
            </a:extLst>
          </p:cNvPr>
          <p:cNvSpPr>
            <a:spLocks noGrp="1"/>
          </p:cNvSpPr>
          <p:nvPr/>
        </p:nvSpPr>
        <p:spPr>
          <a:xfrm>
            <a:off x="10820400" y="6229350"/>
            <a:ext cx="6858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995E30E-B55D-42E9-AE47-F612AD850C03}"/>
              </a:ext>
            </a:extLst>
          </p:cNvPr>
          <p:cNvSpPr>
            <a:spLocks noGrp="1"/>
          </p:cNvSpPr>
          <p:nvPr/>
        </p:nvSpPr>
        <p:spPr>
          <a:xfrm>
            <a:off x="742950" y="1552575"/>
            <a:ext cx="49530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08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87E78"/>
                </a:solidFill>
                <a:latin typeface="Microsoft YaHei"/>
                <a:ea typeface="Microsoft YaHei"/>
                <a:cs typeface="Microsoft YaHei"/>
              </a:rPr>
              <a:t>1  配对差异表达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58942D0-C5FB-409B-B52D-706D576783FB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104775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8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042"/>
                </a:solidFill>
                <a:latin typeface="Microsoft YaHei"/>
                <a:ea typeface="Microsoft YaHei"/>
                <a:cs typeface="Microsoft YaHei"/>
              </a:rPr>
              <a:t>肿瘤减正常；FDR &lt; 0.05 且 |log2FC| ≥ 1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3421776-7377-4D17-9F47-A09B5A9BF8D1}"/>
              </a:ext>
            </a:extLst>
          </p:cNvPr>
          <p:cNvSpPr>
            <a:spLocks noGrp="1"/>
          </p:cNvSpPr>
          <p:nvPr/>
        </p:nvSpPr>
        <p:spPr>
          <a:xfrm>
            <a:off x="742950" y="3009900"/>
            <a:ext cx="49530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08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87E78"/>
                </a:solidFill>
                <a:latin typeface="Microsoft YaHei"/>
                <a:ea typeface="Microsoft YaHei"/>
                <a:cs typeface="Microsoft YaHei"/>
              </a:rPr>
              <a:t>2  药物表达反转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79A0FA2-A887-43E5-BFA4-5264F29621BF}"/>
              </a:ext>
            </a:extLst>
          </p:cNvPr>
          <p:cNvSpPr>
            <a:spLocks noGrp="1"/>
          </p:cNvSpPr>
          <p:nvPr/>
        </p:nvSpPr>
        <p:spPr>
          <a:xfrm>
            <a:off x="762000" y="3543300"/>
            <a:ext cx="104775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8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042"/>
                </a:solidFill>
                <a:latin typeface="Microsoft YaHei"/>
                <a:ea typeface="Microsoft YaHei"/>
                <a:cs typeface="Microsoft YaHei"/>
              </a:rPr>
              <a:t>负 Spearman 与上调/下调基因秩连接分数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C4D2ABF-EF8C-474F-ACF4-D28D007A80F3}"/>
              </a:ext>
            </a:extLst>
          </p:cNvPr>
          <p:cNvSpPr>
            <a:spLocks noGrp="1"/>
          </p:cNvSpPr>
          <p:nvPr/>
        </p:nvSpPr>
        <p:spPr>
          <a:xfrm>
            <a:off x="742950" y="4457700"/>
            <a:ext cx="49530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08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87E78"/>
                </a:solidFill>
                <a:latin typeface="Microsoft YaHei"/>
                <a:ea typeface="Microsoft YaHei"/>
                <a:cs typeface="Microsoft YaHei"/>
              </a:rPr>
              <a:t>3  排名融合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70FF53F-A185-465D-8A48-13BC0FB7C15B}"/>
              </a:ext>
            </a:extLst>
          </p:cNvPr>
          <p:cNvSpPr>
            <a:spLocks noGrp="1"/>
          </p:cNvSpPr>
          <p:nvPr/>
        </p:nvSpPr>
        <p:spPr>
          <a:xfrm>
            <a:off x="762000" y="5000625"/>
            <a:ext cx="1057275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8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042"/>
                </a:solidFill>
                <a:latin typeface="Microsoft YaHei"/>
                <a:ea typeface="Microsoft YaHei"/>
                <a:cs typeface="Microsoft YaHei"/>
              </a:rPr>
              <a:t>RRF k = 60；并列分数共享名次；不读取参考治疗标签</a:t>
            </a:r>
          </a:p>
        </p:txBody>
      </p:sp>
    </p:spTree>
    <p:extLst>
      <p:ext uri="{BB962C8B-B14F-4D97-AF65-F5344CB8AC3E}">
        <p14:creationId xmlns:p14="http://schemas.microsoft.com/office/powerpoint/2010/main" val="1616248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1D8AA25-B5F0-4493-A1C9-83CE7DF81029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8204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225" b="1">
                <a:solidFill>
                  <a:srgbClr val="112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12B3C"/>
                </a:solidFill>
                <a:latin typeface="Microsoft YaHei"/>
                <a:ea typeface="Microsoft YaHei"/>
                <a:cs typeface="Microsoft YaHei"/>
              </a:rPr>
              <a:t>公开基准结果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9B78442-117B-45F6-9807-A41ED32D119C}"/>
              </a:ext>
            </a:extLst>
          </p:cNvPr>
          <p:cNvSpPr>
            <a:spLocks noGrp="1"/>
          </p:cNvSpPr>
          <p:nvPr/>
        </p:nvSpPr>
        <p:spPr>
          <a:xfrm>
            <a:off x="10820400" y="6229350"/>
            <a:ext cx="6858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graphicFrame>
        <p:nvGraphicFramePr>
          <p:cNvPr id="7" name="Chart"/>
          <p:cNvGraphicFramePr/>
          <p:nvPr>
            <p:extLst>
              <p:ext uri="{D42A27DB-BD31-4B8C-83A1-F6EECF244321}">
                <p14:modId xmlns:p14="http://schemas.microsoft.com/office/powerpoint/2010/main" val="3997436751"/>
              </p:ext>
            </p:extLst>
          </p:nvPr>
        </p:nvGraphicFramePr>
        <p:xfrm>
          <a:off x="952500" y="1476375"/>
          <a:ext cx="10287000" cy="38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07BA9210-F6B4-4F9B-9D82-2F89567AE503}"/>
              </a:ext>
            </a:extLst>
          </p:cNvPr>
          <p:cNvSpPr>
            <a:spLocks noGrp="1"/>
          </p:cNvSpPr>
          <p:nvPr/>
        </p:nvSpPr>
        <p:spPr>
          <a:xfrm>
            <a:off x="952500" y="5524500"/>
            <a:ext cx="1000125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500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rPr>
              <a:t>官方 </a:t>
            </a:r>
            <a:r>
              <a:rPr lang="en-US" altLang="zh-CN" sz="1500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rPr>
              <a:t>NS-AUC × 100</a:t>
            </a:r>
            <a:r>
              <a:rPr lang="zh-CN" altLang="en-US" sz="1500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rPr>
              <a:t>；</a:t>
            </a:r>
            <a:r>
              <a:rPr lang="en-US" altLang="zh-CN" sz="1500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rPr>
              <a:t>100 </a:t>
            </a:r>
            <a:r>
              <a:rPr lang="zh-CN" altLang="en-US" sz="1500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rPr>
              <a:t>次相同种子、五折选模。弱相关外层测试集重复</a:t>
            </a:r>
            <a:endParaRPr sz="1500" b="0">
              <a:solidFill>
                <a:srgbClr val="536672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0736370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41B77205-40DD-4960-849B-B08A664E1636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8204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225" b="1">
                <a:solidFill>
                  <a:srgbClr val="112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12B3C"/>
                </a:solidFill>
                <a:latin typeface="Microsoft YaHei"/>
                <a:ea typeface="Microsoft YaHei"/>
                <a:cs typeface="Microsoft YaHei"/>
              </a:rPr>
              <a:t>LUAD 候选与参考药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6B04D7E-AA28-4AAD-9DEC-90D7557A535F}"/>
              </a:ext>
            </a:extLst>
          </p:cNvPr>
          <p:cNvSpPr>
            <a:spLocks noGrp="1"/>
          </p:cNvSpPr>
          <p:nvPr/>
        </p:nvSpPr>
        <p:spPr>
          <a:xfrm>
            <a:off x="10820400" y="6229350"/>
            <a:ext cx="6858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CC4E3B1-2EAC-4B8D-B12C-E3E5FE7F3FA3}"/>
              </a:ext>
            </a:extLst>
          </p:cNvPr>
          <p:cNvSpPr>
            <a:spLocks noGrp="1"/>
          </p:cNvSpPr>
          <p:nvPr/>
        </p:nvSpPr>
        <p:spPr>
          <a:xfrm>
            <a:off x="723900" y="1600200"/>
            <a:ext cx="10572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75" b="1">
                <a:solidFill>
                  <a:srgbClr val="08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087E78"/>
                </a:solidFill>
                <a:latin typeface="Microsoft YaHei"/>
                <a:ea typeface="Microsoft YaHei"/>
                <a:cs typeface="Microsoft YaHei"/>
              </a:rPr>
              <a:t>前十名集中出现类固醇相关药物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1A863B0-CF77-4FDE-BF0E-56560919462B}"/>
              </a:ext>
            </a:extLst>
          </p:cNvPr>
          <p:cNvSpPr>
            <a:spLocks noGrp="1"/>
          </p:cNvSpPr>
          <p:nvPr/>
        </p:nvSpPr>
        <p:spPr>
          <a:xfrm>
            <a:off x="742950" y="2590800"/>
            <a:ext cx="104775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18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83042"/>
                </a:solidFill>
                <a:latin typeface="Microsoft YaHei"/>
                <a:ea typeface="Microsoft YaHei"/>
                <a:cs typeface="Microsoft YaHei"/>
              </a:rPr>
              <a:t>参考药物在 4,920 个药名中的位置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036AC24-EF6D-4FB7-9396-E91984885C4C}"/>
              </a:ext>
            </a:extLst>
          </p:cNvPr>
          <p:cNvSpPr>
            <a:spLocks noGrp="1"/>
          </p:cNvSpPr>
          <p:nvPr/>
        </p:nvSpPr>
        <p:spPr>
          <a:xfrm>
            <a:off x="781050" y="3248025"/>
            <a:ext cx="1057275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18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3042"/>
                </a:solidFill>
                <a:latin typeface="Microsoft YaHei"/>
                <a:ea typeface="Microsoft YaHei"/>
                <a:cs typeface="Microsoft YaHei"/>
              </a:rPr>
              <a:t>docetaxel  106       crizotinib  241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857629D-8471-458D-B5D1-551CA81A87FE}"/>
              </a:ext>
            </a:extLst>
          </p:cNvPr>
          <p:cNvSpPr>
            <a:spLocks noGrp="1"/>
          </p:cNvSpPr>
          <p:nvPr/>
        </p:nvSpPr>
        <p:spPr>
          <a:xfrm>
            <a:off x="781050" y="3886200"/>
            <a:ext cx="1057275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8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3042"/>
                </a:solidFill>
                <a:latin typeface="Microsoft YaHei"/>
                <a:ea typeface="Microsoft YaHei"/>
                <a:cs typeface="Microsoft YaHei"/>
              </a:rPr>
              <a:t>gefitinib  2,444     paclitaxel  2,962     erlotinib  3,147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F41ECAC-2BAD-4A96-B63E-B841AB9525E3}"/>
              </a:ext>
            </a:extLst>
          </p:cNvPr>
          <p:cNvSpPr>
            <a:spLocks noGrp="1"/>
          </p:cNvSpPr>
          <p:nvPr/>
        </p:nvSpPr>
        <p:spPr>
          <a:xfrm>
            <a:off x="762000" y="4953000"/>
            <a:ext cx="1038225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rPr>
              <a:t>另有 6 个预先指定药名不在该表达子集中</a:t>
            </a:r>
          </a:p>
        </p:txBody>
      </p:sp>
    </p:spTree>
    <p:extLst>
      <p:ext uri="{BB962C8B-B14F-4D97-AF65-F5344CB8AC3E}">
        <p14:creationId xmlns:p14="http://schemas.microsoft.com/office/powerpoint/2010/main" val="10335632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42142419-D767-4BEB-A964-603C8AE2C758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8204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225" b="1">
                <a:solidFill>
                  <a:srgbClr val="112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3225" b="1">
                <a:solidFill>
                  <a:srgbClr val="112B3C"/>
                </a:solidFill>
                <a:latin typeface="Microsoft YaHei"/>
                <a:ea typeface="Microsoft YaHei"/>
                <a:cs typeface="Microsoft YaHei"/>
              </a:rPr>
              <a:t>逐签名身份与证据缺口</a:t>
            </a:r>
            <a:endParaRPr sz="3225" b="1">
              <a:solidFill>
                <a:srgbClr val="112B3C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02BACAD-CB0C-4B49-8E3C-043B87D4C6DF}"/>
              </a:ext>
            </a:extLst>
          </p:cNvPr>
          <p:cNvSpPr>
            <a:spLocks noGrp="1"/>
          </p:cNvSpPr>
          <p:nvPr/>
        </p:nvSpPr>
        <p:spPr>
          <a:xfrm>
            <a:off x="10820400" y="6229350"/>
            <a:ext cx="6858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graphicFrame>
        <p:nvGraphicFramePr>
          <p:cNvPr id="7" name="Chart"/>
          <p:cNvGraphicFramePr/>
          <p:nvPr/>
        </p:nvGraphicFramePr>
        <p:xfrm>
          <a:off x="952500" y="1524000"/>
          <a:ext cx="10287000" cy="3667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738F266F-1260-4C27-BFD1-930F063D7770}"/>
              </a:ext>
            </a:extLst>
          </p:cNvPr>
          <p:cNvSpPr>
            <a:spLocks noGrp="1"/>
          </p:cNvSpPr>
          <p:nvPr/>
        </p:nvSpPr>
        <p:spPr>
          <a:xfrm>
            <a:off x="952500" y="5467350"/>
            <a:ext cx="1009650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9E493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2100" b="1">
                <a:solidFill>
                  <a:srgbClr val="9E493D"/>
                </a:solidFill>
                <a:latin typeface="Microsoft YaHei"/>
                <a:ea typeface="Microsoft YaHei"/>
                <a:cs typeface="Microsoft YaHei"/>
              </a:rPr>
              <a:t>10/10 </a:t>
            </a:r>
            <a:r>
              <a:rPr lang="zh-CN" altLang="en-US" sz="2100" b="1">
                <a:solidFill>
                  <a:srgbClr val="9E493D"/>
                </a:solidFill>
                <a:latin typeface="Microsoft YaHei"/>
                <a:ea typeface="Microsoft YaHei"/>
                <a:cs typeface="Microsoft YaHei"/>
              </a:rPr>
              <a:t>源签名 </a:t>
            </a:r>
            <a:r>
              <a:rPr lang="en-US" altLang="zh-CN" sz="2100" b="1">
                <a:solidFill>
                  <a:srgbClr val="9E493D"/>
                </a:solidFill>
                <a:latin typeface="Microsoft YaHei"/>
                <a:ea typeface="Microsoft YaHei"/>
                <a:cs typeface="Microsoft YaHei"/>
              </a:rPr>
              <a:t>ID </a:t>
            </a:r>
            <a:r>
              <a:rPr lang="zh-CN" altLang="en-US" sz="2100" b="1">
                <a:solidFill>
                  <a:srgbClr val="9E493D"/>
                </a:solidFill>
                <a:latin typeface="Microsoft YaHei"/>
                <a:ea typeface="Microsoft YaHei"/>
                <a:cs typeface="Microsoft YaHei"/>
              </a:rPr>
              <a:t>已恢复，十个候选仍均为“证据不足”</a:t>
            </a:r>
            <a:endParaRPr sz="2100" b="1">
              <a:solidFill>
                <a:srgbClr val="9E493D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2058560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70B1CDF2-F1CA-4002-A7E4-954B7FD0AA91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8204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225" b="1">
                <a:solidFill>
                  <a:srgbClr val="112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12B3C"/>
                </a:solidFill>
                <a:latin typeface="Microsoft YaHei"/>
                <a:ea typeface="Microsoft YaHei"/>
                <a:cs typeface="Microsoft YaHei"/>
              </a:rPr>
              <a:t>自然语言 Agent 与审计轨迹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7C47F3D-7B50-4949-A6E5-FD3189FFAD37}"/>
              </a:ext>
            </a:extLst>
          </p:cNvPr>
          <p:cNvSpPr>
            <a:spLocks noGrp="1"/>
          </p:cNvSpPr>
          <p:nvPr/>
        </p:nvSpPr>
        <p:spPr>
          <a:xfrm>
            <a:off x="10820400" y="6229350"/>
            <a:ext cx="6858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ECF1DD6-DAF5-447A-A460-C015858B1C70}"/>
              </a:ext>
            </a:extLst>
          </p:cNvPr>
          <p:cNvSpPr>
            <a:spLocks noGrp="1"/>
          </p:cNvSpPr>
          <p:nvPr/>
        </p:nvSpPr>
        <p:spPr>
          <a:xfrm>
            <a:off x="723900" y="1438275"/>
            <a:ext cx="101917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1">
                <a:solidFill>
                  <a:srgbClr val="08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87E78"/>
                </a:solidFill>
                <a:latin typeface="Microsoft YaHei"/>
                <a:ea typeface="Microsoft YaHei"/>
                <a:cs typeface="Microsoft YaHei"/>
              </a:rPr>
              <a:t>自然语言问题进入受控 Planner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777CD60-2708-459A-93E6-89966FC8E709}"/>
              </a:ext>
            </a:extLst>
          </p:cNvPr>
          <p:cNvSpPr>
            <a:spLocks noGrp="1"/>
          </p:cNvSpPr>
          <p:nvPr/>
        </p:nvSpPr>
        <p:spPr>
          <a:xfrm>
            <a:off x="723900" y="2257425"/>
            <a:ext cx="104775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112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100" b="1">
                <a:solidFill>
                  <a:srgbClr val="112B3C"/>
                </a:solidFill>
                <a:latin typeface="Microsoft YaHei"/>
                <a:ea typeface="Microsoft YaHei"/>
                <a:cs typeface="Microsoft YaHei"/>
              </a:rPr>
              <a:t>工具、参数、输入和模式权限必须通过本地验证</a:t>
            </a:r>
            <a:endParaRPr sz="2100" b="1">
              <a:solidFill>
                <a:srgbClr val="112B3C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3BDE776-B3D8-432B-957F-E69115C74B93}"/>
              </a:ext>
            </a:extLst>
          </p:cNvPr>
          <p:cNvSpPr>
            <a:spLocks noGrp="1"/>
          </p:cNvSpPr>
          <p:nvPr/>
        </p:nvSpPr>
        <p:spPr>
          <a:xfrm>
            <a:off x="723900" y="3133725"/>
            <a:ext cx="1047750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08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100" b="1">
                <a:solidFill>
                  <a:srgbClr val="087E78"/>
                </a:solidFill>
                <a:latin typeface="Microsoft YaHei"/>
                <a:ea typeface="Microsoft YaHei"/>
                <a:cs typeface="Microsoft YaHei"/>
              </a:rPr>
              <a:t>冻结的 </a:t>
            </a:r>
            <a:r>
              <a:rPr lang="en-US" altLang="zh-CN" sz="2100" b="1">
                <a:solidFill>
                  <a:srgbClr val="087E78"/>
                </a:solidFill>
                <a:latin typeface="Microsoft YaHei"/>
                <a:ea typeface="Microsoft YaHei"/>
                <a:cs typeface="Microsoft YaHei"/>
              </a:rPr>
              <a:t>100 </a:t>
            </a:r>
            <a:r>
              <a:rPr lang="zh-CN" altLang="en-US" sz="2100" b="1">
                <a:solidFill>
                  <a:srgbClr val="087E78"/>
                </a:solidFill>
                <a:latin typeface="Microsoft YaHei"/>
                <a:ea typeface="Microsoft YaHei"/>
                <a:cs typeface="Microsoft YaHei"/>
              </a:rPr>
              <a:t>例 </a:t>
            </a:r>
            <a:r>
              <a:rPr lang="en-US" altLang="zh-CN" sz="2100" b="1">
                <a:solidFill>
                  <a:srgbClr val="087E78"/>
                </a:solidFill>
                <a:latin typeface="Microsoft YaHei"/>
                <a:ea typeface="Microsoft YaHei"/>
                <a:cs typeface="Microsoft YaHei"/>
              </a:rPr>
              <a:t>v3</a:t>
            </a:r>
            <a:r>
              <a:rPr lang="zh-CN" altLang="en-US" sz="2100" b="1">
                <a:solidFill>
                  <a:srgbClr val="087E78"/>
                </a:solidFill>
                <a:latin typeface="Microsoft YaHei"/>
                <a:ea typeface="Microsoft YaHei"/>
                <a:cs typeface="Microsoft YaHei"/>
              </a:rPr>
              <a:t>：规则 </a:t>
            </a:r>
            <a:r>
              <a:rPr lang="en-US" altLang="zh-CN" sz="2100" b="1">
                <a:solidFill>
                  <a:srgbClr val="087E78"/>
                </a:solidFill>
                <a:latin typeface="Microsoft YaHei"/>
                <a:ea typeface="Microsoft YaHei"/>
                <a:cs typeface="Microsoft YaHei"/>
              </a:rPr>
              <a:t>90/100</a:t>
            </a:r>
            <a:r>
              <a:rPr lang="zh-CN" altLang="en-US" sz="2100" b="1">
                <a:solidFill>
                  <a:srgbClr val="087E78"/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lang="en-US" altLang="zh-CN" sz="2100" b="1">
                <a:solidFill>
                  <a:srgbClr val="087E78"/>
                </a:solidFill>
                <a:latin typeface="Microsoft YaHei"/>
                <a:ea typeface="Microsoft YaHei"/>
                <a:cs typeface="Microsoft YaHei"/>
              </a:rPr>
              <a:t>DeepSeek 98/100</a:t>
            </a:r>
            <a:endParaRPr sz="2100" b="1">
              <a:solidFill>
                <a:srgbClr val="087E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D663DFE-F253-4964-B1F2-3D9402B9D25F}"/>
              </a:ext>
            </a:extLst>
          </p:cNvPr>
          <p:cNvSpPr>
            <a:spLocks noGrp="1"/>
          </p:cNvSpPr>
          <p:nvPr/>
        </p:nvSpPr>
        <p:spPr>
          <a:xfrm>
            <a:off x="723900" y="4010025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112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100" b="1">
                <a:solidFill>
                  <a:srgbClr val="112B3C"/>
                </a:solidFill>
                <a:latin typeface="Microsoft YaHei"/>
                <a:ea typeface="Microsoft YaHei"/>
                <a:cs typeface="Microsoft YaHei"/>
              </a:rPr>
              <a:t>旧 </a:t>
            </a:r>
            <a:r>
              <a:rPr lang="en-US" altLang="zh-CN" sz="2100" b="1">
                <a:solidFill>
                  <a:srgbClr val="112B3C"/>
                </a:solidFill>
                <a:latin typeface="Microsoft YaHei"/>
                <a:ea typeface="Microsoft YaHei"/>
                <a:cs typeface="Microsoft YaHei"/>
              </a:rPr>
              <a:t>DeepSeek </a:t>
            </a:r>
            <a:r>
              <a:rPr lang="zh-CN" altLang="en-US" sz="2100" b="1">
                <a:solidFill>
                  <a:srgbClr val="112B3C"/>
                </a:solidFill>
                <a:latin typeface="Microsoft YaHei"/>
                <a:ea typeface="Microsoft YaHei"/>
                <a:cs typeface="Microsoft YaHei"/>
              </a:rPr>
              <a:t>结果无原始响应 </a:t>
            </a:r>
            <a:r>
              <a:rPr lang="en-US" altLang="zh-CN" sz="2100" b="1">
                <a:solidFill>
                  <a:srgbClr val="112B3C"/>
                </a:solidFill>
                <a:latin typeface="Microsoft YaHei"/>
                <a:ea typeface="Microsoft YaHei"/>
                <a:cs typeface="Microsoft YaHei"/>
              </a:rPr>
              <a:t>trace</a:t>
            </a:r>
            <a:r>
              <a:rPr lang="zh-CN" altLang="en-US" sz="2100" b="1">
                <a:solidFill>
                  <a:srgbClr val="112B3C"/>
                </a:solidFill>
                <a:latin typeface="Microsoft YaHei"/>
                <a:ea typeface="Microsoft YaHei"/>
                <a:cs typeface="Microsoft YaHei"/>
              </a:rPr>
              <a:t>，不能补造内部原因</a:t>
            </a:r>
            <a:endParaRPr sz="2100" b="1">
              <a:solidFill>
                <a:srgbClr val="112B3C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0CE4AE8-904F-4F21-BFF6-E594CA9DC872}"/>
              </a:ext>
            </a:extLst>
          </p:cNvPr>
          <p:cNvSpPr>
            <a:spLocks noGrp="1"/>
          </p:cNvSpPr>
          <p:nvPr/>
        </p:nvSpPr>
        <p:spPr>
          <a:xfrm>
            <a:off x="742950" y="5257800"/>
            <a:ext cx="1047750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650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rPr>
              <a:t>完整测试通过；新规则 </a:t>
            </a:r>
            <a:r>
              <a:rPr lang="en-US" altLang="zh-CN" sz="1650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rPr>
              <a:t>v3 trace </a:t>
            </a:r>
            <a:r>
              <a:rPr lang="zh-CN" altLang="en-US" sz="1650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rPr>
              <a:t>逐条评分 </a:t>
            </a:r>
            <a:r>
              <a:rPr lang="en-US" altLang="zh-CN" sz="1650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rPr>
              <a:t>90/100</a:t>
            </a:r>
            <a:endParaRPr sz="1650" b="0">
              <a:solidFill>
                <a:srgbClr val="536672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3655936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796C6DD6-ACFE-43FD-A766-DAEF016088EC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8204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225" b="1">
                <a:solidFill>
                  <a:srgbClr val="112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12B3C"/>
                </a:solidFill>
                <a:latin typeface="Microsoft YaHei"/>
                <a:ea typeface="Microsoft YaHei"/>
                <a:cs typeface="Microsoft YaHei"/>
              </a:rPr>
              <a:t>结论与待完成工作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D09ACA7-4324-4B2B-AC0C-F9EB480778CF}"/>
              </a:ext>
            </a:extLst>
          </p:cNvPr>
          <p:cNvSpPr>
            <a:spLocks noGrp="1"/>
          </p:cNvSpPr>
          <p:nvPr/>
        </p:nvSpPr>
        <p:spPr>
          <a:xfrm>
            <a:off x="10820400" y="6229350"/>
            <a:ext cx="6858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0F9F1F7-BF72-4C00-8A69-318CE68BA87D}"/>
              </a:ext>
            </a:extLst>
          </p:cNvPr>
          <p:cNvSpPr>
            <a:spLocks noGrp="1"/>
          </p:cNvSpPr>
          <p:nvPr/>
        </p:nvSpPr>
        <p:spPr>
          <a:xfrm>
            <a:off x="742950" y="1666875"/>
            <a:ext cx="1047750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1">
                <a:solidFill>
                  <a:srgbClr val="9E493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550" b="1">
                <a:solidFill>
                  <a:srgbClr val="9E493D"/>
                </a:solidFill>
                <a:latin typeface="Microsoft YaHei"/>
                <a:ea typeface="Microsoft YaHei"/>
                <a:cs typeface="Microsoft YaHei"/>
              </a:rPr>
              <a:t>官方 </a:t>
            </a:r>
            <a:r>
              <a:rPr lang="en-US" sz="2550" b="1">
                <a:solidFill>
                  <a:srgbClr val="9E493D"/>
                </a:solidFill>
                <a:latin typeface="Microsoft YaHei"/>
                <a:ea typeface="Microsoft YaHei"/>
                <a:cs typeface="Microsoft YaHei"/>
              </a:rPr>
              <a:t>NS-AUC：B2 </a:t>
            </a:r>
            <a:r>
              <a:rPr lang="zh-CN" altLang="en-US" sz="2550" b="1">
                <a:solidFill>
                  <a:srgbClr val="9E493D"/>
                </a:solidFill>
                <a:latin typeface="Microsoft YaHei"/>
                <a:ea typeface="Microsoft YaHei"/>
                <a:cs typeface="Microsoft YaHei"/>
              </a:rPr>
              <a:t>不及论文强基线</a:t>
            </a:r>
            <a:endParaRPr sz="2550" b="1">
              <a:solidFill>
                <a:srgbClr val="9E493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AB12E9C-E98C-4160-809C-6A1B3B3A1E5B}"/>
              </a:ext>
            </a:extLst>
          </p:cNvPr>
          <p:cNvSpPr>
            <a:spLocks noGrp="1"/>
          </p:cNvSpPr>
          <p:nvPr/>
        </p:nvSpPr>
        <p:spPr>
          <a:xfrm>
            <a:off x="742950" y="2590800"/>
            <a:ext cx="104775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112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2400" b="1">
                <a:solidFill>
                  <a:srgbClr val="112B3C"/>
                </a:solidFill>
                <a:latin typeface="Microsoft YaHei"/>
                <a:ea typeface="Microsoft YaHei"/>
                <a:cs typeface="Microsoft YaHei"/>
              </a:rPr>
              <a:t>Top-10 </a:t>
            </a:r>
            <a:r>
              <a:rPr lang="zh-CN" altLang="en-US" sz="2400" b="1">
                <a:solidFill>
                  <a:srgbClr val="112B3C"/>
                </a:solidFill>
                <a:latin typeface="Microsoft YaHei"/>
                <a:ea typeface="Microsoft YaHei"/>
                <a:cs typeface="Microsoft YaHei"/>
              </a:rPr>
              <a:t>签名可追溯，疗效证据仍不足</a:t>
            </a:r>
            <a:endParaRPr sz="2400" b="1">
              <a:solidFill>
                <a:srgbClr val="112B3C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CD4D984-ADBD-4E0D-B1E8-E0341491C387}"/>
              </a:ext>
            </a:extLst>
          </p:cNvPr>
          <p:cNvSpPr>
            <a:spLocks noGrp="1"/>
          </p:cNvSpPr>
          <p:nvPr/>
        </p:nvSpPr>
        <p:spPr>
          <a:xfrm>
            <a:off x="742950" y="3810000"/>
            <a:ext cx="1047750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18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950" b="0">
                <a:solidFill>
                  <a:srgbClr val="183042"/>
                </a:solidFill>
                <a:latin typeface="Microsoft YaHei"/>
                <a:ea typeface="Microsoft YaHei"/>
                <a:cs typeface="Microsoft YaHei"/>
              </a:rPr>
              <a:t>五分区修订：选法较 </a:t>
            </a:r>
            <a:r>
              <a:rPr lang="en-US" altLang="zh-CN" sz="1950" b="0">
                <a:solidFill>
                  <a:srgbClr val="183042"/>
                </a:solidFill>
                <a:latin typeface="Microsoft YaHei"/>
                <a:ea typeface="Microsoft YaHei"/>
                <a:cs typeface="Microsoft YaHei"/>
              </a:rPr>
              <a:t>B2 </a:t>
            </a:r>
            <a:r>
              <a:rPr lang="zh-CN" altLang="en-US" sz="1950" b="0">
                <a:solidFill>
                  <a:srgbClr val="183042"/>
                </a:solidFill>
                <a:latin typeface="Microsoft YaHei"/>
                <a:ea typeface="Microsoft YaHei"/>
                <a:cs typeface="Microsoft YaHei"/>
              </a:rPr>
              <a:t>低 </a:t>
            </a:r>
            <a:r>
              <a:rPr lang="en-US" altLang="zh-CN" sz="1950" b="0">
                <a:solidFill>
                  <a:srgbClr val="183042"/>
                </a:solidFill>
                <a:latin typeface="Microsoft YaHei"/>
                <a:ea typeface="Microsoft YaHei"/>
                <a:cs typeface="Microsoft YaHei"/>
              </a:rPr>
              <a:t>0.110 NS-AUC</a:t>
            </a:r>
            <a:endParaRPr sz="1950" b="0">
              <a:solidFill>
                <a:srgbClr val="18304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0B52912-57C4-4514-9F22-C3A3BA2DC4E2}"/>
              </a:ext>
            </a:extLst>
          </p:cNvPr>
          <p:cNvSpPr>
            <a:spLocks noGrp="1"/>
          </p:cNvSpPr>
          <p:nvPr/>
        </p:nvSpPr>
        <p:spPr>
          <a:xfrm>
            <a:off x="742950" y="4743450"/>
            <a:ext cx="104775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800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rPr>
              <a:t>湿实验无资源；剂量、亚型与组合仅为方案</a:t>
            </a:r>
            <a:endParaRPr sz="1800" b="0">
              <a:solidFill>
                <a:srgbClr val="536672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4471481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943</Words>
  <Application>Microsoft Office PowerPoint</Application>
  <DocSecurity>0</DocSecurity>
  <PresentationFormat>宽屏</PresentationFormat>
  <Paragraphs>60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2" baseType="lpstr">
      <vt:lpstr>Microsoft YaHei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Chen Wei</cp:lastModifiedBy>
  <cp:revision>3</cp:revision>
  <dcterms:created xsi:type="dcterms:W3CDTF">2026-09-24T15:34:34Z</dcterms:created>
  <dcterms:modified xsi:type="dcterms:W3CDTF">2026-09-26T17:01:17Z</dcterms:modified>
</cp:coreProperties>
</file>