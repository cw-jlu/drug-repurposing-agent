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随机拆分</c:v>
          </c:tx>
          <c:spPr>
            <a:solidFill>
              <a:srgbClr val="4776A1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B1 反转</c:v>
                </c:pt>
                <c:pt idx="1">
                  <c:v>B0p 流行度</c:v>
                </c:pt>
                <c:pt idx="2">
                  <c:v>B2 嵌套</c:v>
                </c:pt>
                <c:pt idx="3">
                  <c:v>LogisticMF 嵌套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48.2</c:v>
                </c:pt>
                <c:pt idx="1">
                  <c:v>73.459999999999994</c:v>
                </c:pt>
                <c:pt idx="2">
                  <c:v>73.709999999999994</c:v>
                </c:pt>
                <c:pt idx="3">
                  <c:v>78.260000000000005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D7CC-4536-8CA7-D8FE532343B5}"/>
            </c:ext>
          </c:extLst>
        </c:ser>
        <c:ser>
          <c:idx val="1"/>
          <c:order val="1"/>
          <c:tx>
            <c:v>弱相关拆分</c:v>
          </c:tx>
          <c:spPr>
            <a:solidFill>
              <a:srgbClr val="087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B1 反转</c:v>
                </c:pt>
                <c:pt idx="1">
                  <c:v>B0p 流行度</c:v>
                </c:pt>
                <c:pt idx="2">
                  <c:v>B2 嵌套</c:v>
                </c:pt>
                <c:pt idx="3">
                  <c:v>LogisticMF 嵌套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52.38</c:v>
                </c:pt>
                <c:pt idx="1">
                  <c:v>50</c:v>
                </c:pt>
                <c:pt idx="2">
                  <c:v>47.02</c:v>
                </c:pt>
                <c:pt idx="3">
                  <c:v>64.739999999999995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D7CC-4536-8CA7-D8FE532343B5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legend>
      <c:legendPos val="b"/>
      <c:overlay val="0"/>
      <c:txPr>
        <a:bodyPr anchorCtr="1"/>
        <a:lstStyle/>
        <a:p>
          <a:pPr>
            <a:defRPr>
              <a:latin typeface="Microsoft YaHei"/>
              <a:ea typeface="Microsoft YaHei"/>
              <a:cs typeface="Microsoft YaHei"/>
            </a:defRPr>
          </a:pPr>
          <a:endParaRPr lang="zh-CN"/>
        </a:p>
      </c:txPr>
    </c:legend>
    <c:plotVisOnly val="1"/>
    <c:dispBlanksAs val="zero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前十名数量</c:v>
          </c:tx>
          <c:spPr>
            <a:solidFill>
              <a:srgbClr val="087E7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>
                    <a:latin typeface="Microsoft YaHei"/>
                    <a:ea typeface="Microsoft YaHei"/>
                    <a:cs typeface="Microsoft YaHei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精确 InChIKey</c:v>
                </c:pt>
                <c:pt idx="1">
                  <c:v>立体差异</c:v>
                </c:pt>
                <c:pt idx="2">
                  <c:v>身份不符</c:v>
                </c:pt>
                <c:pt idx="3">
                  <c:v>同名多 ID</c:v>
                </c:pt>
                <c:pt idx="4">
                  <c:v>无 Hub 样品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1</c:v>
                </c:pt>
                <c:pt idx="3">
                  <c:v>2</c:v>
                </c:pt>
                <c:pt idx="4">
                  <c:v>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AA70-4535-B0F2-57AAA3621A9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内容基于仓库计划、已保存的基准结果、LUAD 案例报告和课程任务 PDF。课程要求覆盖 Problem、Data、Model、Benchmark、Biological interpretation 五个环节，提交 GitHub 代码并进行约 10 分钟汇报。研究用途，不构成临床建议。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计划来源：药物重定位Agent项目计划.md。表达反转和临床疗效的区别见 docs/limitations.md。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GEO GSE32863: https://www.ncbi.nlm.nih.gov/geo/query/acc.cgi?acc=GSE32863
GSE92742: https://www.ncbi.nlm.nih.gov/geo/query/acc.cgi?acc=GSE92742
EH3226 </a:t>
            </a:r>
            <a:r>
              <a:rPr lang="zh-CN" altLang="en-US"/>
              <a:t>构建方法与签名 </a:t>
            </a:r>
            <a:r>
              <a:rPr lang="en-US"/>
              <a:t>ID </a:t>
            </a:r>
            <a:r>
              <a:rPr lang="zh-CN" altLang="en-US"/>
              <a:t>重建见 </a:t>
            </a:r>
            <a:r>
              <a:rPr lang="en-US"/>
              <a:t>data/manifests/eh3226-luad.json、data/manifests/luad-top10-signatures-v1.json </a:t>
            </a:r>
            <a:r>
              <a:rPr lang="zh-CN" altLang="en-US"/>
              <a:t>和 </a:t>
            </a:r>
            <a:r>
              <a:rPr lang="en-US"/>
              <a:t>configs/luad_top10_signature_ids.csv。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方法与冻结规则：docs/evaluation_protocol.md、docs/luad_screening_report.md。limma 用户指南：https://bioconductor.org/packages/release/bioc/vignettes/limma/inst/doc/usersguide.pdf。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数据：</a:t>
            </a:r>
            <a:r>
              <a:rPr lang="en-US"/>
              <a:t>TRANSCRIPT v2.0.0，https://zenodo.org/records/7982976
</a:t>
            </a:r>
            <a:r>
              <a:rPr lang="zh-CN" altLang="en-US"/>
              <a:t>拆分与全局 </a:t>
            </a:r>
            <a:r>
              <a:rPr lang="en-US"/>
              <a:t>AUC：stanscofi 2.0.1。B2 </a:t>
            </a:r>
            <a:r>
              <a:rPr lang="zh-CN" altLang="en-US"/>
              <a:t>使用三折内层调参与 </a:t>
            </a:r>
            <a:r>
              <a:rPr lang="en-US" altLang="zh-CN"/>
              <a:t>3 </a:t>
            </a:r>
            <a:r>
              <a:rPr lang="zh-CN" altLang="en-US"/>
              <a:t>个外层种子；</a:t>
            </a:r>
            <a:r>
              <a:rPr lang="en-US"/>
              <a:t>LogisticMF </a:t>
            </a:r>
            <a:r>
              <a:rPr lang="zh-CN" altLang="en-US"/>
              <a:t>使用三折内层调参与 </a:t>
            </a:r>
            <a:r>
              <a:rPr lang="en-US" altLang="zh-CN"/>
              <a:t>5 </a:t>
            </a:r>
            <a:r>
              <a:rPr lang="zh-CN" altLang="en-US"/>
              <a:t>个外层种子。完整均值、标准差、</a:t>
            </a:r>
            <a:r>
              <a:rPr lang="en-US"/>
              <a:t>NDCG </a:t>
            </a:r>
            <a:r>
              <a:rPr lang="zh-CN" altLang="en-US"/>
              <a:t>和泄漏审计见 </a:t>
            </a:r>
            <a:r>
              <a:rPr lang="en-US"/>
              <a:t>docs/benchmark_results.md </a:t>
            </a:r>
            <a:r>
              <a:rPr lang="zh-CN" altLang="en-US"/>
              <a:t>与 </a:t>
            </a:r>
            <a:r>
              <a:rPr lang="en-US"/>
              <a:t>benchmark/results/nested_cv_official_summary.json。</a:t>
            </a:r>
            <a:r>
              <a:rPr lang="zh-CN" altLang="en-US"/>
              <a:t>未知 </a:t>
            </a:r>
            <a:r>
              <a:rPr lang="en-US" altLang="zh-CN"/>
              <a:t>0 </a:t>
            </a:r>
            <a:r>
              <a:rPr lang="zh-CN" altLang="en-US"/>
              <a:t>按全局 </a:t>
            </a:r>
            <a:r>
              <a:rPr lang="en-US"/>
              <a:t>AUC </a:t>
            </a:r>
            <a:r>
              <a:rPr lang="zh-CN" altLang="en-US"/>
              <a:t>约定计入非正类，不代表临床失败。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完整 4,920 名排序和对照结果由 scripts/rank_luad_eh3226.py 生成；方法与限制见 docs/luad_screening_report.md。参考药名在排序前冻结于 configs/luad_positive_controls.csv。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逐签名交叉表：</a:t>
            </a:r>
            <a:r>
              <a:rPr lang="en-US"/>
              <a:t>configs/luad_top10_signature_ids.csv。</a:t>
            </a:r>
            <a:r>
              <a:rPr lang="zh-CN" altLang="en-US"/>
              <a:t>重建依据是 </a:t>
            </a:r>
            <a:r>
              <a:rPr lang="en-US"/>
              <a:t>GSE92742 </a:t>
            </a:r>
            <a:r>
              <a:rPr lang="zh-CN" altLang="en-US"/>
              <a:t>校验固定的 </a:t>
            </a:r>
            <a:r>
              <a:rPr lang="en-US"/>
              <a:t>sig_info/pert_info </a:t>
            </a:r>
            <a:r>
              <a:rPr lang="zh-CN" altLang="en-US"/>
              <a:t>和 </a:t>
            </a:r>
            <a:r>
              <a:rPr lang="en-US"/>
              <a:t>EH3226 </a:t>
            </a:r>
            <a:r>
              <a:rPr lang="zh-CN" altLang="en-US"/>
              <a:t>发布的源顺序去重规则。图表显示恢复精确 </a:t>
            </a:r>
            <a:r>
              <a:rPr lang="en-US"/>
              <a:t>GSE </a:t>
            </a:r>
            <a:r>
              <a:rPr lang="zh-CN" altLang="en-US"/>
              <a:t>签名后仍存在的 </a:t>
            </a:r>
            <a:r>
              <a:rPr lang="en-US"/>
              <a:t>Broad Repurposing Hub </a:t>
            </a:r>
            <a:r>
              <a:rPr lang="zh-CN" altLang="en-US"/>
              <a:t>跨来源核对状态。候选级支持与反对证据见 </a:t>
            </a:r>
            <a:r>
              <a:rPr lang="en-US"/>
              <a:t>docs/luad_top10_evidence_matrix.md。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v3 holdout </a:t>
            </a:r>
            <a:r>
              <a:rPr lang="zh-CN" altLang="en-US"/>
              <a:t>文件在任何调用前以提交 </a:t>
            </a:r>
            <a:r>
              <a:rPr lang="en-US" altLang="zh-CN"/>
              <a:t>4611</a:t>
            </a:r>
            <a:r>
              <a:rPr lang="en-US"/>
              <a:t>c88 </a:t>
            </a:r>
            <a:r>
              <a:rPr lang="zh-CN" altLang="en-US"/>
              <a:t>冻结，</a:t>
            </a:r>
            <a:r>
              <a:rPr lang="en-US"/>
              <a:t>SHA-256 </a:t>
            </a:r>
            <a:r>
              <a:rPr lang="zh-CN" altLang="en-US"/>
              <a:t>为 </a:t>
            </a:r>
            <a:r>
              <a:rPr lang="en-US" altLang="zh-CN"/>
              <a:t>0803</a:t>
            </a:r>
            <a:r>
              <a:rPr lang="en-US"/>
              <a:t>e9bb8bfa87b61bd5832b89a76dde8cf40ead9be350015d7173f6d28dda5f。</a:t>
            </a:r>
            <a:r>
              <a:rPr lang="zh-CN" altLang="en-US"/>
              <a:t>结果见 </a:t>
            </a:r>
            <a:r>
              <a:rPr lang="en-US"/>
              <a:t>docs/planner_eval_results.md、benchmark/results/planner_eval_v3_rule.json </a:t>
            </a:r>
            <a:r>
              <a:rPr lang="zh-CN" altLang="en-US"/>
              <a:t>和 </a:t>
            </a:r>
            <a:r>
              <a:rPr lang="en-US"/>
              <a:t>planner_eval_v3_deepseek_flash.json。</a:t>
            </a:r>
            <a:r>
              <a:rPr lang="zh-CN" altLang="en-US"/>
              <a:t>一次 </a:t>
            </a:r>
            <a:r>
              <a:rPr lang="en-US"/>
              <a:t>DeepSeek </a:t>
            </a:r>
            <a:r>
              <a:rPr lang="zh-CN" altLang="en-US"/>
              <a:t>运行不能估计随机波动。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当前状态见 </a:t>
            </a:r>
            <a:r>
              <a:rPr lang="en-US" altLang="zh-CN"/>
              <a:t>docs/project_status.md</a:t>
            </a:r>
            <a:r>
              <a:rPr lang="zh-CN" altLang="en-US"/>
              <a:t>。体外验证的剂量范围、细胞亚型、</a:t>
            </a:r>
            <a:r>
              <a:rPr lang="en-US" altLang="zh-CN"/>
              <a:t>NR3C1 </a:t>
            </a:r>
            <a:r>
              <a:rPr lang="zh-CN" altLang="en-US"/>
              <a:t>机制对照、联合用药矩阵和预设门槛见 </a:t>
            </a:r>
            <a:r>
              <a:rPr lang="en-US" altLang="zh-CN"/>
              <a:t>docs/luad_experimental_validation_protocol.md</a:t>
            </a:r>
            <a:r>
              <a:rPr lang="zh-CN" altLang="en-US"/>
              <a:t>。工作区没有湿实验资源，因此没有把方案写成已完成验证。</a:t>
            </a:r>
            <a:r>
              <a:rPr lang="en-US" altLang="zh-CN"/>
              <a:t>TypeSafe Jev </a:t>
            </a:r>
            <a:r>
              <a:rPr lang="zh-CN" altLang="en-US"/>
              <a:t>仍缺少凭据。任何候选都不构成临床治疗建议。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B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DFAF6DD-BEDE-4AAF-A4F7-65A4B49ADB7D}"/>
              </a:ext>
            </a:extLst>
          </p:cNvPr>
          <p:cNvSpPr>
            <a:spLocks noGrp="1"/>
          </p:cNvSpPr>
          <p:nvPr/>
        </p:nvSpPr>
        <p:spPr>
          <a:xfrm>
            <a:off x="723900" y="18097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药物重定位 Agent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F96721-DD5D-4FFE-863F-06A04AC5610C}"/>
              </a:ext>
            </a:extLst>
          </p:cNvPr>
          <p:cNvSpPr>
            <a:spLocks noGrp="1"/>
          </p:cNvSpPr>
          <p:nvPr/>
        </p:nvSpPr>
        <p:spPr>
          <a:xfrm>
            <a:off x="762000" y="2952750"/>
            <a:ext cx="10477500" cy="6858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公开基准与肺腺癌研究案例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784765-2192-487F-A47E-910784B17149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99060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BBD5D3"/>
                </a:solidFill>
                <a:latin typeface="Microsoft YaHei"/>
                <a:ea typeface="Microsoft YaHei"/>
                <a:cs typeface="Microsoft YaHei"/>
              </a:rPr>
              <a:t>课程设计答辩  2026 年 9 月</a:t>
            </a:r>
          </a:p>
        </p:txBody>
      </p:sp>
    </p:spTree>
    <p:extLst>
      <p:ext uri="{BB962C8B-B14F-4D97-AF65-F5344CB8AC3E}">
        <p14:creationId xmlns:p14="http://schemas.microsoft.com/office/powerpoint/2010/main" val="10155185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E084FEA-F9D6-4202-8941-80F6F326B6A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研究问题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129E3B-12E9-4EFA-B3FB-70587DFAA642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185BFDE-734A-4D81-BBBE-59B1C26B30B5}"/>
              </a:ext>
            </a:extLst>
          </p:cNvPr>
          <p:cNvSpPr>
            <a:spLocks noGrp="1"/>
          </p:cNvSpPr>
          <p:nvPr/>
        </p:nvSpPr>
        <p:spPr>
          <a:xfrm>
            <a:off x="742950" y="1714500"/>
            <a:ext cx="10572750" cy="8191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表达反转能否改善公开基准上的药物排序？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095F63C-6F70-41A5-88C7-4DE0F5FCE678}"/>
              </a:ext>
            </a:extLst>
          </p:cNvPr>
          <p:cNvSpPr>
            <a:spLocks noGrp="1"/>
          </p:cNvSpPr>
          <p:nvPr/>
        </p:nvSpPr>
        <p:spPr>
          <a:xfrm>
            <a:off x="742950" y="3028950"/>
            <a:ext cx="1057275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肺腺癌候选能否从输入数据追踪到身份与文献证据？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9B457E-2489-4D60-BE00-BBFA057155AE}"/>
              </a:ext>
            </a:extLst>
          </p:cNvPr>
          <p:cNvSpPr>
            <a:spLocks noGrp="1"/>
          </p:cNvSpPr>
          <p:nvPr/>
        </p:nvSpPr>
        <p:spPr>
          <a:xfrm>
            <a:off x="762000" y="5010150"/>
            <a:ext cx="1038225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评价重点：排名表现、数据溯源、证据边界</a:t>
            </a:r>
          </a:p>
        </p:txBody>
      </p:sp>
    </p:spTree>
    <p:extLst>
      <p:ext uri="{BB962C8B-B14F-4D97-AF65-F5344CB8AC3E}">
        <p14:creationId xmlns:p14="http://schemas.microsoft.com/office/powerpoint/2010/main" val="154860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0224E803-4073-431D-8AB7-19D7DB9085AB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数据与质量控制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0931BEF-F75E-4329-B9CC-C1025FBA4FEC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84BA06-6BBE-4912-9944-A3E466CE1B55}"/>
              </a:ext>
            </a:extLst>
          </p:cNvPr>
          <p:cNvSpPr>
            <a:spLocks noGrp="1"/>
          </p:cNvSpPr>
          <p:nvPr/>
        </p:nvSpPr>
        <p:spPr>
          <a:xfrm>
            <a:off x="723900" y="1695450"/>
            <a:ext cx="4572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57 对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AD9C00-93AE-47D7-B071-6882E87E9DE4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4762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GSE32863 肿瘤与邻近正常组织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68DA212-BF12-467F-BFA2-15B7C3205ACF}"/>
              </a:ext>
            </a:extLst>
          </p:cNvPr>
          <p:cNvSpPr>
            <a:spLocks noGrp="1"/>
          </p:cNvSpPr>
          <p:nvPr/>
        </p:nvSpPr>
        <p:spPr>
          <a:xfrm>
            <a:off x="742950" y="3333750"/>
            <a:ext cx="4762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2 份患者编号无法配对的样本已排除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36207EB-697E-4726-81EC-AEE22A66149C}"/>
              </a:ext>
            </a:extLst>
          </p:cNvPr>
          <p:cNvSpPr>
            <a:spLocks noGrp="1"/>
          </p:cNvSpPr>
          <p:nvPr/>
        </p:nvSpPr>
        <p:spPr>
          <a:xfrm>
            <a:off x="6496050" y="1695450"/>
            <a:ext cx="47625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4,920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0C0298E-5338-4649-A0B8-AEE748B8CD86}"/>
              </a:ext>
            </a:extLst>
          </p:cNvPr>
          <p:cNvSpPr>
            <a:spLocks noGrp="1"/>
          </p:cNvSpPr>
          <p:nvPr/>
        </p:nvSpPr>
        <p:spPr>
          <a:xfrm>
            <a:off x="6496050" y="2686050"/>
            <a:ext cx="4714875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A549 药名扰动签名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97B5778-CBEC-4399-BE2C-C274C17EF004}"/>
              </a:ext>
            </a:extLst>
          </p:cNvPr>
          <p:cNvSpPr>
            <a:spLocks noGrp="1"/>
          </p:cNvSpPr>
          <p:nvPr/>
        </p:nvSpPr>
        <p:spPr>
          <a:xfrm>
            <a:off x="6496050" y="3333750"/>
            <a:ext cx="476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961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个重合 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landmark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基因，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Top-10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精确签名 </a:t>
            </a:r>
            <a:r>
              <a:rPr 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15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已恢复</a:t>
            </a:r>
            <a:endParaRPr sz="1575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05ADE9-5EBC-492D-AD69-DD6874168A92}"/>
              </a:ext>
            </a:extLst>
          </p:cNvPr>
          <p:cNvSpPr>
            <a:spLocks noGrp="1"/>
          </p:cNvSpPr>
          <p:nvPr/>
        </p:nvSpPr>
        <p:spPr>
          <a:xfrm>
            <a:off x="742950" y="4953000"/>
            <a:ext cx="10572750" cy="7620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配对 limma 与 t 检验得到相同阈值基因集：上调 512，下调 749</a:t>
            </a:r>
          </a:p>
        </p:txBody>
      </p:sp>
    </p:spTree>
    <p:extLst>
      <p:ext uri="{BB962C8B-B14F-4D97-AF65-F5344CB8AC3E}">
        <p14:creationId xmlns:p14="http://schemas.microsoft.com/office/powerpoint/2010/main" val="754248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9D79972-0ABF-4DE7-81EC-D6E80B4BA3A2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固定的分析方法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2A3AAEA-54A2-4C45-86DA-CC80B84BE641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95E30E-B55D-42E9-AE47-F612AD850C03}"/>
              </a:ext>
            </a:extLst>
          </p:cNvPr>
          <p:cNvSpPr>
            <a:spLocks noGrp="1"/>
          </p:cNvSpPr>
          <p:nvPr/>
        </p:nvSpPr>
        <p:spPr>
          <a:xfrm>
            <a:off x="742950" y="1552575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  配对差异表达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8942D0-C5FB-409B-B52D-706D576783FB}"/>
              </a:ext>
            </a:extLst>
          </p:cNvPr>
          <p:cNvSpPr>
            <a:spLocks noGrp="1"/>
          </p:cNvSpPr>
          <p:nvPr/>
        </p:nvSpPr>
        <p:spPr>
          <a:xfrm>
            <a:off x="762000" y="20955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肿瘤减正常；FDR &lt; 0.05 且 |log2FC| ≥ 1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3421776-7377-4D17-9F47-A09B5A9BF8D1}"/>
              </a:ext>
            </a:extLst>
          </p:cNvPr>
          <p:cNvSpPr>
            <a:spLocks noGrp="1"/>
          </p:cNvSpPr>
          <p:nvPr/>
        </p:nvSpPr>
        <p:spPr>
          <a:xfrm>
            <a:off x="742950" y="3009900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2  药物表达反转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9A0FA2-A887-43E5-BFA4-5264F29621BF}"/>
              </a:ext>
            </a:extLst>
          </p:cNvPr>
          <p:cNvSpPr>
            <a:spLocks noGrp="1"/>
          </p:cNvSpPr>
          <p:nvPr/>
        </p:nvSpPr>
        <p:spPr>
          <a:xfrm>
            <a:off x="762000" y="35433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负 Spearman 与上调/下调基因秩连接分数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2ABF-EF8C-474F-ACF4-D28D007A80F3}"/>
              </a:ext>
            </a:extLst>
          </p:cNvPr>
          <p:cNvSpPr>
            <a:spLocks noGrp="1"/>
          </p:cNvSpPr>
          <p:nvPr/>
        </p:nvSpPr>
        <p:spPr>
          <a:xfrm>
            <a:off x="742950" y="4457700"/>
            <a:ext cx="495300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3  排名融合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70FF53F-A185-465D-8A48-13BC0FB7C15B}"/>
              </a:ext>
            </a:extLst>
          </p:cNvPr>
          <p:cNvSpPr>
            <a:spLocks noGrp="1"/>
          </p:cNvSpPr>
          <p:nvPr/>
        </p:nvSpPr>
        <p:spPr>
          <a:xfrm>
            <a:off x="762000" y="5000625"/>
            <a:ext cx="10572750" cy="5905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RRF k = 60；并列分数共享名次；不读取参考治疗标签</a:t>
            </a:r>
          </a:p>
        </p:txBody>
      </p:sp>
    </p:spTree>
    <p:extLst>
      <p:ext uri="{BB962C8B-B14F-4D97-AF65-F5344CB8AC3E}">
        <p14:creationId xmlns:p14="http://schemas.microsoft.com/office/powerpoint/2010/main" val="161624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11D8AA25-B5F0-4493-A1C9-83CE7DF81029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公开基准结果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9B78442-117B-45F6-9807-A41ED32D119C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7" name="Chart"/>
          <p:cNvGraphicFramePr/>
          <p:nvPr>
            <p:extLst>
              <p:ext uri="{D42A27DB-BD31-4B8C-83A1-F6EECF244321}">
                <p14:modId xmlns:p14="http://schemas.microsoft.com/office/powerpoint/2010/main" val="1904830420"/>
              </p:ext>
            </p:extLst>
          </p:nvPr>
        </p:nvGraphicFramePr>
        <p:xfrm>
          <a:off x="952500" y="1476375"/>
          <a:ext cx="102870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07BA9210-F6B4-4F9B-9D82-2F89567AE503}"/>
              </a:ext>
            </a:extLst>
          </p:cNvPr>
          <p:cNvSpPr>
            <a:spLocks noGrp="1"/>
          </p:cNvSpPr>
          <p:nvPr/>
        </p:nvSpPr>
        <p:spPr>
          <a:xfrm>
            <a:off x="952500" y="5524500"/>
            <a:ext cx="1000125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全局 </a:t>
            </a:r>
            <a:r>
              <a:rPr 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AUC × 100，B2 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使用 </a:t>
            </a:r>
            <a:r>
              <a:rPr lang="en-US" altLang="zh-CN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3 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个外层种子，</a:t>
            </a:r>
            <a:r>
              <a:rPr 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LogisticMF 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使用 </a:t>
            </a:r>
            <a:r>
              <a:rPr lang="en-US" altLang="zh-CN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5 </a:t>
            </a:r>
            <a:r>
              <a:rPr lang="zh-CN" altLang="en-US" sz="15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个外层种子</a:t>
            </a:r>
            <a:endParaRPr sz="150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73637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41B77205-40DD-4960-849B-B08A664E1636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LUAD 候选与参考药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6B04D7E-AA28-4AAD-9DEC-90D7557A535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C4E3B1-2EAC-4B8D-B12C-E3E5FE7F3FA3}"/>
              </a:ext>
            </a:extLst>
          </p:cNvPr>
          <p:cNvSpPr>
            <a:spLocks noGrp="1"/>
          </p:cNvSpPr>
          <p:nvPr/>
        </p:nvSpPr>
        <p:spPr>
          <a:xfrm>
            <a:off x="723900" y="1600200"/>
            <a:ext cx="1057275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前十名集中出现类固醇相关药物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1A863B0-CF77-4FDE-BF0E-56560919462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参考药物在 4,920 个药名中的位置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36AC24-EF6D-4FB7-9396-E91984885C4C}"/>
              </a:ext>
            </a:extLst>
          </p:cNvPr>
          <p:cNvSpPr>
            <a:spLocks noGrp="1"/>
          </p:cNvSpPr>
          <p:nvPr/>
        </p:nvSpPr>
        <p:spPr>
          <a:xfrm>
            <a:off x="781050" y="3248025"/>
            <a:ext cx="10572750" cy="4953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docetaxel  106       crizotinib  241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857629D-8471-458D-B5D1-551CA81A87FE}"/>
              </a:ext>
            </a:extLst>
          </p:cNvPr>
          <p:cNvSpPr>
            <a:spLocks noGrp="1"/>
          </p:cNvSpPr>
          <p:nvPr/>
        </p:nvSpPr>
        <p:spPr>
          <a:xfrm>
            <a:off x="781050" y="3886200"/>
            <a:ext cx="1057275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gefitinib  2,444     paclitaxel  2,962     erlotinib  3,147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41ECAC-2BAD-4A96-B63E-B841AB9525E3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3822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另有 6 个预先指定药名不在该表达子集中</a:t>
            </a:r>
          </a:p>
        </p:txBody>
      </p:sp>
    </p:spTree>
    <p:extLst>
      <p:ext uri="{BB962C8B-B14F-4D97-AF65-F5344CB8AC3E}">
        <p14:creationId xmlns:p14="http://schemas.microsoft.com/office/powerpoint/2010/main" val="10335632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42142419-D767-4BEB-A964-603C8AE2C758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逐签名身份与证据缺口</a:t>
            </a:r>
            <a:endParaRPr sz="3225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02BACAD-CB0C-4B49-8E3C-043B87D4C6D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7" name="Chart"/>
          <p:cNvGraphicFramePr/>
          <p:nvPr/>
        </p:nvGraphicFramePr>
        <p:xfrm>
          <a:off x="952500" y="1524000"/>
          <a:ext cx="102870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矩形 3">
            <a:extLst>
              <a:ext uri="{FF2B5EF4-FFF2-40B4-BE49-F238E27FC236}">
                <a16:creationId xmlns:a16="http://schemas.microsoft.com/office/drawing/2014/main" id="{738F266F-1260-4C27-BFD1-930F063D7770}"/>
              </a:ext>
            </a:extLst>
          </p:cNvPr>
          <p:cNvSpPr>
            <a:spLocks noGrp="1"/>
          </p:cNvSpPr>
          <p:nvPr/>
        </p:nvSpPr>
        <p:spPr>
          <a:xfrm>
            <a:off x="952500" y="5467350"/>
            <a:ext cx="10096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10/10 </a:t>
            </a:r>
            <a:r>
              <a:rPr lang="zh-CN" altLang="en-US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源签名 </a:t>
            </a:r>
            <a:r>
              <a:rPr lang="en-US" altLang="zh-CN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210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已恢复，十个候选仍均为“证据不足”</a:t>
            </a:r>
            <a:endParaRPr sz="2100" b="1">
              <a:solidFill>
                <a:srgbClr val="9E493D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2058560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0B1CDF2-F1CA-4002-A7E4-954B7FD0AA91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自然语言 Agent 与审计轨迹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C47F3D-7B50-4949-A6E5-FD3189FFAD37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CF1DD6-DAF5-447A-A460-C015858B1C70}"/>
              </a:ext>
            </a:extLst>
          </p:cNvPr>
          <p:cNvSpPr>
            <a:spLocks noGrp="1"/>
          </p:cNvSpPr>
          <p:nvPr/>
        </p:nvSpPr>
        <p:spPr>
          <a:xfrm>
            <a:off x="723900" y="1438275"/>
            <a:ext cx="10191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自然语言问题进入受控 Planner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777CD60-2708-459A-93E6-89966FC8E709}"/>
              </a:ext>
            </a:extLst>
          </p:cNvPr>
          <p:cNvSpPr>
            <a:spLocks noGrp="1"/>
          </p:cNvSpPr>
          <p:nvPr/>
        </p:nvSpPr>
        <p:spPr>
          <a:xfrm>
            <a:off x="723900" y="2257425"/>
            <a:ext cx="104775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工具、参数、输入和模式权限必须通过本地验证</a:t>
            </a:r>
            <a:endParaRPr sz="21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3BDE776-B3D8-432B-957F-E69115C74B93}"/>
              </a:ext>
            </a:extLst>
          </p:cNvPr>
          <p:cNvSpPr>
            <a:spLocks noGrp="1"/>
          </p:cNvSpPr>
          <p:nvPr/>
        </p:nvSpPr>
        <p:spPr>
          <a:xfrm>
            <a:off x="723900" y="3133725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例独立 </a:t>
            </a:r>
            <a:r>
              <a:rPr 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v3：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规则 </a:t>
            </a:r>
            <a:r>
              <a:rPr lang="en-US" altLang="zh-CN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90/100</a:t>
            </a:r>
            <a:r>
              <a:rPr lang="zh-CN" alt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lang="en-US" sz="2100" b="1">
                <a:solidFill>
                  <a:srgbClr val="087E78"/>
                </a:solidFill>
                <a:latin typeface="Microsoft YaHei"/>
                <a:ea typeface="Microsoft YaHei"/>
                <a:cs typeface="Microsoft YaHei"/>
              </a:rPr>
              <a:t>DeepSeek 98/100</a:t>
            </a:r>
            <a:endParaRPr sz="2100" b="1">
              <a:solidFill>
                <a:srgbClr val="087E78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D663DFE-F253-4964-B1F2-3D9402B9D25F}"/>
              </a:ext>
            </a:extLst>
          </p:cNvPr>
          <p:cNvSpPr>
            <a:spLocks noGrp="1"/>
          </p:cNvSpPr>
          <p:nvPr/>
        </p:nvSpPr>
        <p:spPr>
          <a:xfrm>
            <a:off x="723900" y="4010025"/>
            <a:ext cx="10668000" cy="5524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两处 </a:t>
            </a:r>
            <a:r>
              <a:rPr 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DeepSeek </a:t>
            </a:r>
            <a:r>
              <a:rPr lang="zh-CN" alt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失败保留，未回改题集或 </a:t>
            </a:r>
            <a:r>
              <a:rPr lang="en-US" sz="21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Planner</a:t>
            </a:r>
            <a:endParaRPr sz="21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0CE4AE8-904F-4F21-BFF6-E594CA9DC872}"/>
              </a:ext>
            </a:extLst>
          </p:cNvPr>
          <p:cNvSpPr>
            <a:spLocks noGrp="1"/>
          </p:cNvSpPr>
          <p:nvPr/>
        </p:nvSpPr>
        <p:spPr>
          <a:xfrm>
            <a:off x="742950" y="5257800"/>
            <a:ext cx="104775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32 </a:t>
            </a:r>
            <a:r>
              <a:rPr lang="zh-CN" altLang="en-US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项测试通过，</a:t>
            </a:r>
            <a:r>
              <a:rPr lang="en-US" altLang="zh-CN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Planner </a:t>
            </a:r>
            <a:r>
              <a:rPr lang="zh-CN" altLang="en-US" sz="165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不接收原始矩阵或测试标签</a:t>
            </a:r>
            <a:endParaRPr sz="165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36559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796C6DD6-ACFE-43FD-A766-DAEF016088EC}"/>
              </a:ext>
            </a:extLst>
          </p:cNvPr>
          <p:cNvSpPr>
            <a:spLocks noGrp="1"/>
          </p:cNvSpPr>
          <p:nvPr/>
        </p:nvSpPr>
        <p:spPr>
          <a:xfrm>
            <a:off x="685800" y="400050"/>
            <a:ext cx="108204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225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结论与待完成工作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09ACA7-4324-4B2B-AC0C-F9EB480778CF}"/>
              </a:ext>
            </a:extLst>
          </p:cNvPr>
          <p:cNvSpPr>
            <a:spLocks noGrp="1"/>
          </p:cNvSpPr>
          <p:nvPr/>
        </p:nvSpPr>
        <p:spPr>
          <a:xfrm>
            <a:off x="10820400" y="6229350"/>
            <a:ext cx="6858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0F9F1F7-BF72-4C00-8A69-318CE68BA87D}"/>
              </a:ext>
            </a:extLst>
          </p:cNvPr>
          <p:cNvSpPr>
            <a:spLocks noGrp="1"/>
          </p:cNvSpPr>
          <p:nvPr/>
        </p:nvSpPr>
        <p:spPr>
          <a:xfrm>
            <a:off x="742950" y="1666875"/>
            <a:ext cx="1047750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9E493D"/>
                </a:solidFill>
                <a:latin typeface="Microsoft YaHei"/>
                <a:ea typeface="Microsoft YaHei"/>
                <a:cs typeface="Microsoft YaHei"/>
              </a:rPr>
              <a:t>表达反转未超过强基线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AB12E9C-E98C-4160-809C-6A1B3B3A1E5B}"/>
              </a:ext>
            </a:extLst>
          </p:cNvPr>
          <p:cNvSpPr>
            <a:spLocks noGrp="1"/>
          </p:cNvSpPr>
          <p:nvPr/>
        </p:nvSpPr>
        <p:spPr>
          <a:xfrm>
            <a:off x="742950" y="2590800"/>
            <a:ext cx="10477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Top-10 </a:t>
            </a:r>
            <a:r>
              <a:rPr lang="zh-CN" alt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的精确签名 </a:t>
            </a:r>
            <a:r>
              <a:rPr 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ID </a:t>
            </a:r>
            <a:r>
              <a:rPr lang="zh-CN" altLang="en-US" sz="2400" b="1">
                <a:solidFill>
                  <a:srgbClr val="112B3C"/>
                </a:solidFill>
                <a:latin typeface="Microsoft YaHei"/>
                <a:ea typeface="Microsoft YaHei"/>
                <a:cs typeface="Microsoft YaHei"/>
              </a:rPr>
              <a:t>已恢复，疗效证据仍不足</a:t>
            </a:r>
            <a:endParaRPr sz="2400" b="1">
              <a:solidFill>
                <a:srgbClr val="112B3C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CD4D984-ADBD-4E0D-B1E8-E0341491C387}"/>
              </a:ext>
            </a:extLst>
          </p:cNvPr>
          <p:cNvSpPr>
            <a:spLocks noGrp="1"/>
          </p:cNvSpPr>
          <p:nvPr/>
        </p:nvSpPr>
        <p:spPr>
          <a:xfrm>
            <a:off x="742950" y="3810000"/>
            <a:ext cx="10477500" cy="628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五种子嵌套 </a:t>
            </a:r>
            <a:r>
              <a:rPr 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CV </a:t>
            </a: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与 </a:t>
            </a:r>
            <a:r>
              <a:rPr lang="en-US" altLang="zh-CN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100 </a:t>
            </a: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例独立 </a:t>
            </a:r>
            <a:r>
              <a:rPr 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holdout </a:t>
            </a:r>
            <a:r>
              <a:rPr lang="zh-CN" altLang="en-US" sz="1950" b="0">
                <a:solidFill>
                  <a:srgbClr val="183042"/>
                </a:solidFill>
                <a:latin typeface="Microsoft YaHei"/>
                <a:ea typeface="Microsoft YaHei"/>
                <a:cs typeface="Microsoft YaHei"/>
              </a:rPr>
              <a:t>已完成</a:t>
            </a:r>
            <a:endParaRPr sz="1950" b="0">
              <a:solidFill>
                <a:srgbClr val="183042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B52912-57C4-4514-9F22-C3A3BA2DC4E2}"/>
              </a:ext>
            </a:extLst>
          </p:cNvPr>
          <p:cNvSpPr>
            <a:spLocks noGrp="1"/>
          </p:cNvSpPr>
          <p:nvPr/>
        </p:nvSpPr>
        <p:spPr>
          <a:xfrm>
            <a:off x="742950" y="4743450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待执行剂量、亚型、</a:t>
            </a:r>
            <a:r>
              <a:rPr lang="en-US" altLang="zh-CN"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NR3C1 </a:t>
            </a:r>
            <a:r>
              <a:rPr lang="zh-CN" altLang="en-US" sz="1800" b="0">
                <a:solidFill>
                  <a:srgbClr val="536672"/>
                </a:solidFill>
                <a:latin typeface="Microsoft YaHei"/>
                <a:ea typeface="Microsoft YaHei"/>
                <a:cs typeface="Microsoft YaHei"/>
              </a:rPr>
              <a:t>依赖和联合用药实验</a:t>
            </a:r>
            <a:endParaRPr sz="1800" b="0">
              <a:solidFill>
                <a:srgbClr val="536672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447148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770</Words>
  <Application>Microsoft Office PowerPoint</Application>
  <DocSecurity>0</DocSecurity>
  <PresentationFormat>宽屏</PresentationFormat>
  <Paragraphs>60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2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 Wei</cp:lastModifiedBy>
  <cp:revision>1</cp:revision>
  <dcterms:created xsi:type="dcterms:W3CDTF">2026-09-24T15:34:34Z</dcterms:created>
  <dcterms:modified xsi:type="dcterms:W3CDTF">2026-09-25T02:24:09Z</dcterms:modified>
</cp:coreProperties>
</file>