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随机拆分</c:v>
          </c:tx>
          <c:spPr>
            <a:solidFill>
              <a:srgbClr val="4776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B1 表达反转</c:v>
                </c:pt>
                <c:pt idx="1">
                  <c:v>B0p 训练流行度</c:v>
                </c:pt>
                <c:pt idx="2">
                  <c:v>B2 固定融合</c:v>
                </c:pt>
                <c:pt idx="3">
                  <c:v>LogisticMF 论文结果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48.16</c:v>
                </c:pt>
                <c:pt idx="1">
                  <c:v>50</c:v>
                </c:pt>
                <c:pt idx="2">
                  <c:v>52.22</c:v>
                </c:pt>
                <c:pt idx="3">
                  <c:v>67.040000000000006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7CC-4536-8CA7-D8FE532343B5}"/>
            </c:ext>
          </c:extLst>
        </c:ser>
        <c:ser>
          <c:idx val="1"/>
          <c:order val="1"/>
          <c:tx>
            <c:v>弱相关拆分</c:v>
          </c:tx>
          <c:spPr>
            <a:solidFill>
              <a:srgbClr val="087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B1 表达反转</c:v>
                </c:pt>
                <c:pt idx="1">
                  <c:v>B0p 训练流行度</c:v>
                </c:pt>
                <c:pt idx="2">
                  <c:v>B2 固定融合</c:v>
                </c:pt>
                <c:pt idx="3">
                  <c:v>LogisticMF 论文结果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54.17</c:v>
                </c:pt>
                <c:pt idx="1">
                  <c:v>50</c:v>
                </c:pt>
                <c:pt idx="2">
                  <c:v>50.19</c:v>
                </c:pt>
                <c:pt idx="3">
                  <c:v>65.75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7CC-4536-8CA7-D8FE532343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前十名数量</c:v>
          </c:tx>
          <c:spPr>
            <a:solidFill>
              <a:srgbClr val="087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精确 InChIKey</c:v>
                </c:pt>
                <c:pt idx="1">
                  <c:v>立体差异</c:v>
                </c:pt>
                <c:pt idx="2">
                  <c:v>身份不符</c:v>
                </c:pt>
                <c:pt idx="3">
                  <c:v>同名多 ID</c:v>
                </c:pt>
                <c:pt idx="4">
                  <c:v>无 Hub 样品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A70-4535-B0F2-57AAA3621A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内容基于仓库计划、已保存的基准结果、LUAD 案例报告和课程任务 PDF。课程要求覆盖 Problem、Data、Model、Benchmark、Biological interpretation 五个环节，提交 GitHub 代码并进行约 10 分钟汇报。研究用途，不构成临床建议。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计划来源：药物重定位Agent项目计划.md。表达反转和临床疗效的区别见 docs/limitations.md。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 GSE32863: https://www.ncbi.nlm.nih.gov/geo/query/acc.cgi?acc=GSE32863
GSE92742: https://www.ncbi.nlm.nih.gov/geo/query/acc.cgi?acc=GSE92742
EH3226 </a:t>
            </a:r>
            <a:r>
              <a:rPr lang="zh-CN" altLang="en-US"/>
              <a:t>构建方法与签名 </a:t>
            </a:r>
            <a:r>
              <a:rPr lang="en-US"/>
              <a:t>ID </a:t>
            </a:r>
            <a:r>
              <a:rPr lang="zh-CN" altLang="en-US"/>
              <a:t>重建见 </a:t>
            </a:r>
            <a:r>
              <a:rPr lang="en-US"/>
              <a:t>data/manifests/eh3226-luad.json、data/manifests/luad-top10-signatures-v1.json </a:t>
            </a:r>
            <a:r>
              <a:rPr lang="zh-CN" altLang="en-US"/>
              <a:t>和 </a:t>
            </a:r>
            <a:r>
              <a:rPr lang="en-US"/>
              <a:t>configs/luad_top10_signature_ids.csv。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方法与冻结规则：docs/evaluation_protocol.md、docs/luad_screening_report.md。limma 用户指南：https://bioconductor.org/packages/release/bioc/vignettes/limma/inst/doc/usersguide.pdf。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TRANSCRIPT v2.0.0 </a:t>
            </a:r>
            <a:r>
              <a:rPr lang="zh-CN" altLang="en-US"/>
              <a:t>与 </a:t>
            </a:r>
            <a:r>
              <a:rPr lang="en-US" altLang="zh-CN"/>
              <a:t>RECeSS </a:t>
            </a:r>
            <a:r>
              <a:rPr lang="zh-CN" altLang="en-US"/>
              <a:t>官方 </a:t>
            </a:r>
            <a:r>
              <a:rPr lang="en-US" altLang="zh-CN"/>
              <a:t>Runner</a:t>
            </a:r>
            <a:r>
              <a:rPr lang="zh-CN" altLang="en-US"/>
              <a:t>，</a:t>
            </a:r>
            <a:r>
              <a:rPr lang="en-US" altLang="zh-CN"/>
              <a:t>100 </a:t>
            </a:r>
            <a:r>
              <a:rPr lang="zh-CN" altLang="en-US"/>
              <a:t>个同序种子、</a:t>
            </a:r>
            <a:r>
              <a:rPr lang="en-US" altLang="zh-CN"/>
              <a:t>20% </a:t>
            </a:r>
            <a:r>
              <a:rPr lang="zh-CN" altLang="en-US"/>
              <a:t>测试、五折选模。</a:t>
            </a:r>
            <a:r>
              <a:rPr lang="en-US" altLang="zh-CN"/>
              <a:t>B1</a:t>
            </a:r>
            <a:r>
              <a:rPr lang="zh-CN" altLang="en-US"/>
              <a:t>、</a:t>
            </a:r>
            <a:r>
              <a:rPr lang="en-US" altLang="zh-CN"/>
              <a:t>B0p</a:t>
            </a:r>
            <a:r>
              <a:rPr lang="zh-CN" altLang="en-US"/>
              <a:t>、</a:t>
            </a:r>
            <a:r>
              <a:rPr lang="en-US" altLang="zh-CN"/>
              <a:t>B2 </a:t>
            </a:r>
            <a:r>
              <a:rPr lang="zh-CN" altLang="en-US"/>
              <a:t>为本项目官方 </a:t>
            </a:r>
            <a:r>
              <a:rPr lang="en-US" altLang="zh-CN"/>
              <a:t>Runner </a:t>
            </a:r>
            <a:r>
              <a:rPr lang="zh-CN" altLang="en-US"/>
              <a:t>输出；</a:t>
            </a:r>
            <a:r>
              <a:rPr lang="en-US" altLang="zh-CN"/>
              <a:t>LogisticMF </a:t>
            </a:r>
            <a:r>
              <a:rPr lang="zh-CN" altLang="en-US"/>
              <a:t>为作者发表的同协议结果，非本地 </a:t>
            </a:r>
            <a:r>
              <a:rPr lang="en-US" altLang="zh-CN"/>
              <a:t>100 </a:t>
            </a:r>
            <a:r>
              <a:rPr lang="zh-CN" altLang="en-US"/>
              <a:t>次重跑。数值为 </a:t>
            </a:r>
            <a:r>
              <a:rPr lang="en-US" altLang="zh-CN"/>
              <a:t>NS-AUC × 100</a:t>
            </a:r>
            <a:r>
              <a:rPr lang="zh-CN" altLang="en-US"/>
              <a:t>，不与早期全局 </a:t>
            </a:r>
            <a:r>
              <a:rPr lang="en-US" altLang="zh-CN"/>
              <a:t>AUC </a:t>
            </a:r>
            <a:r>
              <a:rPr lang="zh-CN" altLang="en-US"/>
              <a:t>混比。弱相关拆分 </a:t>
            </a:r>
            <a:r>
              <a:rPr lang="en-US" altLang="zh-CN"/>
              <a:t>100 </a:t>
            </a:r>
            <a:r>
              <a:rPr lang="zh-CN" altLang="en-US"/>
              <a:t>个种子共享同一个外层测试集。来源：</a:t>
            </a:r>
            <a:r>
              <a:rPr lang="en-US" altLang="zh-CN"/>
              <a:t>docs/benchmark_results.md </a:t>
            </a:r>
            <a:r>
              <a:rPr lang="zh-CN" altLang="en-US"/>
              <a:t>与 </a:t>
            </a:r>
            <a:r>
              <a:rPr lang="en-US" altLang="zh-CN"/>
              <a:t>benchmark/results/recess_official_b2_vs_11.json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 4,920 名排序和对照结果由 scripts/rank_luad_eh3226.py 生成；方法与限制见 docs/luad_screening_report.md。参考药名在排序前冻结于 configs/luad_positive_controls.csv。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逐签名交叉表：</a:t>
            </a:r>
            <a:r>
              <a:rPr lang="en-US"/>
              <a:t>configs/luad_top10_signature_ids.csv。</a:t>
            </a:r>
            <a:r>
              <a:rPr lang="zh-CN" altLang="en-US"/>
              <a:t>重建依据是 </a:t>
            </a:r>
            <a:r>
              <a:rPr lang="en-US"/>
              <a:t>GSE92742 </a:t>
            </a:r>
            <a:r>
              <a:rPr lang="zh-CN" altLang="en-US"/>
              <a:t>校验固定的 </a:t>
            </a:r>
            <a:r>
              <a:rPr lang="en-US"/>
              <a:t>sig_info/pert_info </a:t>
            </a:r>
            <a:r>
              <a:rPr lang="zh-CN" altLang="en-US"/>
              <a:t>和 </a:t>
            </a:r>
            <a:r>
              <a:rPr lang="en-US"/>
              <a:t>EH3226 </a:t>
            </a:r>
            <a:r>
              <a:rPr lang="zh-CN" altLang="en-US"/>
              <a:t>发布的源顺序去重规则。图表显示恢复精确 </a:t>
            </a:r>
            <a:r>
              <a:rPr lang="en-US"/>
              <a:t>GSE </a:t>
            </a:r>
            <a:r>
              <a:rPr lang="zh-CN" altLang="en-US"/>
              <a:t>签名后仍存在的 </a:t>
            </a:r>
            <a:r>
              <a:rPr lang="en-US"/>
              <a:t>Broad Repurposing Hub </a:t>
            </a:r>
            <a:r>
              <a:rPr lang="zh-CN" altLang="en-US"/>
              <a:t>跨来源核对状态。候选级支持与反对证据见 </a:t>
            </a:r>
            <a:r>
              <a:rPr lang="en-US"/>
              <a:t>docs/luad_top10_evidence_matrix.md。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v3 holdout </a:t>
            </a:r>
            <a:r>
              <a:rPr lang="zh-CN" altLang="en-US"/>
              <a:t>在任何旧 </a:t>
            </a:r>
            <a:r>
              <a:rPr lang="en-US"/>
              <a:t>v3 </a:t>
            </a:r>
            <a:r>
              <a:rPr lang="zh-CN" altLang="en-US"/>
              <a:t>调用前以提交 </a:t>
            </a:r>
            <a:r>
              <a:rPr lang="en-US" altLang="zh-CN"/>
              <a:t>4611</a:t>
            </a:r>
            <a:r>
              <a:rPr lang="en-US"/>
              <a:t>c88 </a:t>
            </a:r>
            <a:r>
              <a:rPr lang="zh-CN" altLang="en-US"/>
              <a:t>冻结。旧结果：</a:t>
            </a:r>
            <a:r>
              <a:rPr lang="en-US"/>
              <a:t>benchmark/results/planner_eval_v3_rule.json、planner_eval_v3_deepseek_flash.json。</a:t>
            </a:r>
            <a:r>
              <a:rPr lang="zh-CN" altLang="en-US"/>
              <a:t>新增规则回归运行在同一题集上为 </a:t>
            </a:r>
            <a:r>
              <a:rPr lang="en-US" altLang="zh-CN"/>
              <a:t>90/100</a:t>
            </a:r>
            <a:r>
              <a:rPr lang="zh-CN" altLang="en-US"/>
              <a:t>，并经 </a:t>
            </a:r>
            <a:r>
              <a:rPr lang="en-US"/>
              <a:t>evals/grade_planner_traces.py </a:t>
            </a:r>
            <a:r>
              <a:rPr lang="zh-CN" altLang="en-US"/>
              <a:t>检查工具名、参数、安全边界和 </a:t>
            </a:r>
            <a:r>
              <a:rPr lang="en-US"/>
              <a:t>trace </a:t>
            </a:r>
            <a:r>
              <a:rPr lang="zh-CN" altLang="en-US"/>
              <a:t>完整性；这是回归检查而非第二份独立 </a:t>
            </a:r>
            <a:r>
              <a:rPr lang="en-US"/>
              <a:t>holdout。98/100 </a:t>
            </a:r>
            <a:r>
              <a:rPr lang="zh-CN" altLang="en-US"/>
              <a:t>是工具选择，不是药物疗效或 </a:t>
            </a:r>
            <a:r>
              <a:rPr lang="en-US"/>
              <a:t>NS-AUC。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B2 </a:t>
            </a:r>
            <a:r>
              <a:rPr lang="zh-CN" altLang="en-US"/>
              <a:t>与 </a:t>
            </a:r>
            <a:r>
              <a:rPr lang="en-US" altLang="zh-CN"/>
              <a:t>11 </a:t>
            </a:r>
            <a:r>
              <a:rPr lang="zh-CN" altLang="en-US"/>
              <a:t>个作者模型在同一官方协议下比较，随机</a:t>
            </a:r>
            <a:r>
              <a:rPr lang="en-US" altLang="zh-CN"/>
              <a:t>/</a:t>
            </a:r>
            <a:r>
              <a:rPr lang="zh-CN" altLang="en-US"/>
              <a:t>弱相关 </a:t>
            </a:r>
            <a:r>
              <a:rPr lang="en-US" altLang="zh-CN"/>
              <a:t>NS-AUC </a:t>
            </a:r>
            <a:r>
              <a:rPr lang="zh-CN" altLang="en-US"/>
              <a:t>为 </a:t>
            </a:r>
            <a:r>
              <a:rPr lang="en-US" altLang="zh-CN"/>
              <a:t>0.5222/0.5019</a:t>
            </a:r>
            <a:r>
              <a:rPr lang="zh-CN" altLang="en-US"/>
              <a:t>，分列 </a:t>
            </a:r>
            <a:r>
              <a:rPr lang="en-US" altLang="zh-CN"/>
              <a:t>9/12 </a:t>
            </a:r>
            <a:r>
              <a:rPr lang="zh-CN" altLang="en-US"/>
              <a:t>与 </a:t>
            </a:r>
            <a:r>
              <a:rPr lang="en-US" altLang="zh-CN"/>
              <a:t>8/12</a:t>
            </a:r>
            <a:r>
              <a:rPr lang="zh-CN" altLang="en-US"/>
              <a:t>。一次 </a:t>
            </a:r>
            <a:r>
              <a:rPr lang="en-US" altLang="zh-CN"/>
              <a:t>DeepSeek </a:t>
            </a:r>
            <a:r>
              <a:rPr lang="zh-CN" altLang="en-US"/>
              <a:t>预选只涉及两个拆分，不能证明泛化。方法选择 </a:t>
            </a:r>
            <a:r>
              <a:rPr lang="en-US" altLang="zh-CN"/>
              <a:t>v2 </a:t>
            </a:r>
            <a:r>
              <a:rPr lang="zh-CN" altLang="en-US"/>
              <a:t>的五个互不重叠疾病分区已于 </a:t>
            </a:r>
            <a:r>
              <a:rPr lang="en-US" altLang="zh-CN"/>
              <a:t>8b14325 </a:t>
            </a:r>
            <a:r>
              <a:rPr lang="zh-CN" altLang="en-US"/>
              <a:t>冻结；它们仍来自 </a:t>
            </a:r>
            <a:r>
              <a:rPr lang="en-US" altLang="zh-CN"/>
              <a:t>TRANSCRIPT</a:t>
            </a:r>
            <a:r>
              <a:rPr lang="zh-CN" altLang="en-US"/>
              <a:t>，不是外部数据集。由于当前无新 </a:t>
            </a:r>
            <a:r>
              <a:rPr lang="en-US" altLang="zh-CN"/>
              <a:t>API </a:t>
            </a:r>
            <a:r>
              <a:rPr lang="zh-CN" altLang="en-US"/>
              <a:t>密钥，还没有本轮大模型选择或分区结果。当前无实体化合物、细胞模型及仪器，湿实验未执行。候选不构成临床建议。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FAF6DD-BEDE-4AAF-A4F7-65A4B49ADB7D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药物重定位 Agent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F96721-DD5D-4FFE-863F-06A04AC5610C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0477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公开基准与肺腺癌研究案例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784765-2192-487F-A47E-910784B17149}"/>
              </a:ext>
            </a:extLst>
          </p:cNvPr>
          <p:cNvSpPr>
            <a:spLocks noGrp="1"/>
          </p:cNvSpPr>
          <p:nvPr/>
        </p:nvSpPr>
        <p:spPr>
          <a:xfrm>
            <a:off x="781050" y="557212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rPr>
              <a:t>课程设计答辩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01551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E084FEA-F9D6-4202-8941-80F6F326B6A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129E3B-12E9-4EFA-B3FB-70587DFAA642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85BFDE-734A-4D81-BBBE-59B1C26B30B5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5727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表达反转能否改善公开基准上的药物排序？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95F63C-6F70-41A5-88C7-4DE0F5FCE678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肺腺癌候选能否从输入数据追踪到身份与文献证据？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9B457E-2489-4D60-BE00-BBFA057155AE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评价重点：排名表现、数据溯源、证据边界</a:t>
            </a:r>
          </a:p>
        </p:txBody>
      </p:sp>
    </p:spTree>
    <p:extLst>
      <p:ext uri="{BB962C8B-B14F-4D97-AF65-F5344CB8AC3E}">
        <p14:creationId xmlns:p14="http://schemas.microsoft.com/office/powerpoint/2010/main" val="154860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224E803-4073-431D-8AB7-19D7DB9085A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数据与质量控制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931BEF-F75E-4329-B9CC-C1025FBA4FEC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84BA06-6BBE-4912-9944-A3E466CE1B55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4572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57 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AD9C00-93AE-47D7-B071-6882E87E9DE4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GSE32863 肿瘤与邻近正常组织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8DA212-BF12-467F-BFA2-15B7C3205ACF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2 份患者编号无法配对的样本已排除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6207EB-697E-4726-81EC-AEE22A66149C}"/>
              </a:ext>
            </a:extLst>
          </p:cNvPr>
          <p:cNvSpPr>
            <a:spLocks noGrp="1"/>
          </p:cNvSpPr>
          <p:nvPr/>
        </p:nvSpPr>
        <p:spPr>
          <a:xfrm>
            <a:off x="6496050" y="1695450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4,920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C0298E-5338-4649-A0B8-AEE748B8CD86}"/>
              </a:ext>
            </a:extLst>
          </p:cNvPr>
          <p:cNvSpPr>
            <a:spLocks noGrp="1"/>
          </p:cNvSpPr>
          <p:nvPr/>
        </p:nvSpPr>
        <p:spPr>
          <a:xfrm>
            <a:off x="6496050" y="2686050"/>
            <a:ext cx="4714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A549 药名扰动签名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7B5778-CBEC-4399-BE2C-C274C17EF004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961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个重合 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landmark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基因，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Top-10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精确签名 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ID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已恢复</a:t>
            </a:r>
            <a:endParaRPr sz="1575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05ADE9-5EBC-492D-AD69-DD6874168A92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0572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配对 limma 与 t 检验得到相同阈值基因集：上调 512，下调 749</a:t>
            </a:r>
          </a:p>
        </p:txBody>
      </p:sp>
    </p:spTree>
    <p:extLst>
      <p:ext uri="{BB962C8B-B14F-4D97-AF65-F5344CB8AC3E}">
        <p14:creationId xmlns:p14="http://schemas.microsoft.com/office/powerpoint/2010/main" val="75424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9D79972-0ABF-4DE7-81EC-D6E80B4BA3A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固定的分析方法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A3AAEA-54A2-4C45-86DA-CC80B84BE641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95E30E-B55D-42E9-AE47-F612AD850C03}"/>
              </a:ext>
            </a:extLst>
          </p:cNvPr>
          <p:cNvSpPr>
            <a:spLocks noGrp="1"/>
          </p:cNvSpPr>
          <p:nvPr/>
        </p:nvSpPr>
        <p:spPr>
          <a:xfrm>
            <a:off x="742950" y="1552575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  配对差异表达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8942D0-C5FB-409B-B52D-706D576783F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肿瘤减正常；FDR &lt; 0.05 且 |log2FC| ≥ 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421776-7377-4D17-9F47-A09B5A9BF8D1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2  药物表达反转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9A0FA2-A887-43E5-BFA4-5264F29621BF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负 Spearman 与上调/下调基因秩连接分数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2ABF-EF8C-474F-ACF4-D28D007A80F3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3  排名融合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FF53F-A185-465D-8A48-13BC0FB7C15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RRF k = 60；并列分数共享名次；不读取参考治疗标签</a:t>
            </a:r>
          </a:p>
        </p:txBody>
      </p:sp>
    </p:spTree>
    <p:extLst>
      <p:ext uri="{BB962C8B-B14F-4D97-AF65-F5344CB8AC3E}">
        <p14:creationId xmlns:p14="http://schemas.microsoft.com/office/powerpoint/2010/main" val="16162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1D8AA25-B5F0-4493-A1C9-83CE7DF8102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公开基准结果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B78442-117B-45F6-9807-A41ED32D119C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Chart"/>
          <p:cNvGraphicFramePr/>
          <p:nvPr>
            <p:extLst>
              <p:ext uri="{D42A27DB-BD31-4B8C-83A1-F6EECF244321}">
                <p14:modId xmlns:p14="http://schemas.microsoft.com/office/powerpoint/2010/main" val="3997436751"/>
              </p:ext>
            </p:extLst>
          </p:nvPr>
        </p:nvGraphicFramePr>
        <p:xfrm>
          <a:off x="952500" y="1476375"/>
          <a:ext cx="10287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7BA9210-F6B4-4F9B-9D82-2F89567AE503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10001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lang="en-US" altLang="zh-CN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NS-AUC × 100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lang="en-US" altLang="zh-CN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100 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次相同种子、五折选模。弱相关外层测试集重复</a:t>
            </a:r>
            <a:endParaRPr sz="150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363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1B77205-40DD-4960-849B-B08A664E163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LUAD 候选与参考药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B04D7E-AA28-4AAD-9DEC-90D7557A535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C4E3B1-2EAC-4B8D-B12C-E3E5FE7F3FA3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前十名集中出现类固醇相关药物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A863B0-CF77-4FDE-BF0E-56560919462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参考药物在 4,920 个药名中的位置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36AC24-EF6D-4FB7-9396-E91984885C4C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docetaxel  106       crizotinib  241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57629D-8471-458D-B5D1-551CA81A87FE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gefitinib  2,444     paclitaxel  2,962     erlotinib  3,147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1ECAC-2BAD-4A96-B63E-B841AB9525E3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382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另有 6 个预先指定药名不在该表达子集中</a:t>
            </a:r>
          </a:p>
        </p:txBody>
      </p:sp>
    </p:spTree>
    <p:extLst>
      <p:ext uri="{BB962C8B-B14F-4D97-AF65-F5344CB8AC3E}">
        <p14:creationId xmlns:p14="http://schemas.microsoft.com/office/powerpoint/2010/main" val="103356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2142419-D767-4BEB-A964-603C8AE2C75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逐签名身份与证据缺口</a:t>
            </a:r>
            <a:endParaRPr sz="3225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2BACAD-CB0C-4B49-8E3C-043B87D4C6D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952500" y="1524000"/>
          <a:ext cx="102870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38F266F-1260-4C27-BFD1-930F063D7770}"/>
              </a:ext>
            </a:extLst>
          </p:cNvPr>
          <p:cNvSpPr>
            <a:spLocks noGrp="1"/>
          </p:cNvSpPr>
          <p:nvPr/>
        </p:nvSpPr>
        <p:spPr>
          <a:xfrm>
            <a:off x="952500" y="5467350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10/10 </a:t>
            </a:r>
            <a:r>
              <a:rPr lang="zh-CN" altLang="en-US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源签名 </a:t>
            </a:r>
            <a:r>
              <a:rPr lang="en-US" altLang="zh-CN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ID </a:t>
            </a:r>
            <a:r>
              <a:rPr lang="zh-CN" altLang="en-US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已恢复，十个候选仍均为“证据不足”</a:t>
            </a:r>
            <a:endParaRPr sz="2100" b="1">
              <a:solidFill>
                <a:srgbClr val="9E493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5856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0B1CDF2-F1CA-4002-A7E4-954B7FD0AA9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自然语言 Agent 与审计轨迹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C47F3D-7B50-4949-A6E5-FD3189FFAD37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CF1DD6-DAF5-447A-A460-C015858B1C70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10191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自然语言问题进入受控 Planner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77CD60-2708-459A-93E6-89966FC8E709}"/>
              </a:ext>
            </a:extLst>
          </p:cNvPr>
          <p:cNvSpPr>
            <a:spLocks noGrp="1"/>
          </p:cNvSpPr>
          <p:nvPr/>
        </p:nvSpPr>
        <p:spPr>
          <a:xfrm>
            <a:off x="723900" y="2257425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工具、参数、输入和模式权限必须通过本地验证</a:t>
            </a:r>
            <a:endParaRPr sz="21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BDE776-B3D8-432B-957F-E69115C74B93}"/>
              </a:ext>
            </a:extLst>
          </p:cNvPr>
          <p:cNvSpPr>
            <a:spLocks noGrp="1"/>
          </p:cNvSpPr>
          <p:nvPr/>
        </p:nvSpPr>
        <p:spPr>
          <a:xfrm>
            <a:off x="723900" y="313372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冻结的 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100 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例 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v3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：规则 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90/100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DeepSeek 98/100</a:t>
            </a:r>
            <a:endParaRPr sz="2100" b="1">
              <a:solidFill>
                <a:srgbClr val="087E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63DFE-F253-4964-B1F2-3D9402B9D25F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旧 </a:t>
            </a:r>
            <a:r>
              <a:rPr lang="en-US" altLang="zh-CN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DeepSeek </a:t>
            </a: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结果无原始响应 </a:t>
            </a:r>
            <a:r>
              <a:rPr lang="en-US" altLang="zh-CN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trace</a:t>
            </a: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，不能补造内部原因</a:t>
            </a:r>
            <a:endParaRPr sz="21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CE4AE8-904F-4F21-BFF6-E594CA9DC872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58 </a:t>
            </a:r>
            <a:r>
              <a:rPr lang="zh-CN" altLang="en-US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项测试通过；新规则 </a:t>
            </a:r>
            <a:r>
              <a:rPr lang="en-US" altLang="zh-CN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v3 trace </a:t>
            </a:r>
            <a:r>
              <a:rPr lang="zh-CN" altLang="en-US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逐条评分 </a:t>
            </a:r>
            <a:r>
              <a:rPr lang="en-US" altLang="zh-CN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90/100</a:t>
            </a:r>
            <a:endParaRPr sz="165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559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96C6DD6-ACFE-43FD-A766-DAEF016088E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结论与待完成工作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09ACA7-4324-4B2B-AC0C-F9EB480778C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F9F1F7-BF72-4C00-8A69-318CE68BA87D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lang="en-US"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NS-AUC：B2 </a:t>
            </a:r>
            <a:r>
              <a:rPr lang="zh-CN" altLang="en-US"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不及论文强基线</a:t>
            </a:r>
            <a:endParaRPr sz="2550" b="1">
              <a:solidFill>
                <a:srgbClr val="9E49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B12E9C-E98C-4160-809C-6A1B3B3A1E5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Top-10 </a:t>
            </a:r>
            <a:r>
              <a:rPr lang="zh-CN" alt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签名可追溯，疗效证据仍不足</a:t>
            </a:r>
            <a:endParaRPr sz="24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4D984-ADBD-4E0D-B1E8-E0341491C387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五个方法选择分区已冻结，尚无新模型成绩</a:t>
            </a:r>
            <a:endParaRPr sz="1950" b="0">
              <a:solidFill>
                <a:srgbClr val="1830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B52912-57C4-4514-9F22-C3A3BA2DC4E2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湿实验无资源；剂量、亚型与组合仅为方案</a:t>
            </a:r>
            <a:endParaRPr sz="180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7148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Microsoft Office PowerPoint</Application>
  <DocSecurity>0</DocSecurity>
  <PresentationFormat>宽屏</PresentationFormat>
  <Paragraphs>60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 Wei</cp:lastModifiedBy>
  <cp:revision>2</cp:revision>
  <dcterms:created xsi:type="dcterms:W3CDTF">2026-09-24T15:34:34Z</dcterms:created>
  <dcterms:modified xsi:type="dcterms:W3CDTF">2026-09-26T14:51:25Z</dcterms:modified>
</cp:coreProperties>
</file>