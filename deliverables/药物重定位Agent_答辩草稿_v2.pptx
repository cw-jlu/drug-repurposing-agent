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e4235146b44e1f" /><Relationship Type="http://schemas.openxmlformats.org/officeDocument/2006/relationships/extended-properties" Target="/docProps/app.xml" Id="R18a63c04dec14ab2" /><Relationship Type="http://schemas.openxmlformats.org/officeDocument/2006/relationships/officeDocument" Target="/ppt/presentation.xml" Id="Rf1b6a114a96348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ebd3ac24a04942"/>
  </p:sldMasterIdLst>
  <p:notesMasterIdLst>
    <p:notesMasterId xmlns:r="http://schemas.openxmlformats.org/officeDocument/2006/relationships" r:id="R413c190efd714226"/>
  </p:notesMasterIdLst>
  <p:sldIdLst>
    <p:sldId xmlns:r="http://schemas.openxmlformats.org/officeDocument/2006/relationships" id="256" r:id="Rd262a88b479c485b"/>
    <p:sldId xmlns:r="http://schemas.openxmlformats.org/officeDocument/2006/relationships" id="257" r:id="Ra7e6f7476ed54976"/>
    <p:sldId xmlns:r="http://schemas.openxmlformats.org/officeDocument/2006/relationships" id="258" r:id="Refe8481963ae4a9f"/>
    <p:sldId xmlns:r="http://schemas.openxmlformats.org/officeDocument/2006/relationships" id="259" r:id="Re77d7a4144244c31"/>
    <p:sldId xmlns:r="http://schemas.openxmlformats.org/officeDocument/2006/relationships" id="260" r:id="R9134c4c8e0f441e2"/>
    <p:sldId xmlns:r="http://schemas.openxmlformats.org/officeDocument/2006/relationships" id="261" r:id="R5b09856d681948ab"/>
    <p:sldId xmlns:r="http://schemas.openxmlformats.org/officeDocument/2006/relationships" id="262" r:id="R65ad4c3125b74d52"/>
    <p:sldId xmlns:r="http://schemas.openxmlformats.org/officeDocument/2006/relationships" id="263" r:id="R4e2c4ea7a3814ab3"/>
    <p:sldId xmlns:r="http://schemas.openxmlformats.org/officeDocument/2006/relationships" id="264" r:id="R40d319176eb34f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a92df9d8b74f71" /><Relationship Type="http://schemas.openxmlformats.org/officeDocument/2006/relationships/slideMaster" Target="/ppt/slideMasters/slideMaster1.xml" Id="Rd3ebd3ac24a04942" /><Relationship Type="http://schemas.openxmlformats.org/officeDocument/2006/relationships/notesMaster" Target="/ppt/notesMasters/notesMaster1.xml" Id="R413c190efd714226" /><Relationship Type="http://schemas.openxmlformats.org/officeDocument/2006/relationships/presProps" Target="/ppt/presProps.xml" Id="R5bf73f557d3c44a9" /><Relationship Type="http://schemas.openxmlformats.org/officeDocument/2006/relationships/tableStyles" Target="/ppt/tableStyles.xml" Id="Rd40d23fca40648ee" /><Relationship Type="http://schemas.openxmlformats.org/officeDocument/2006/relationships/slide" Target="/ppt/slides/slide1.xml" Id="Rd262a88b479c485b" /><Relationship Type="http://schemas.openxmlformats.org/officeDocument/2006/relationships/slide" Target="/ppt/slides/slide2.xml" Id="Ra7e6f7476ed54976" /><Relationship Type="http://schemas.openxmlformats.org/officeDocument/2006/relationships/slide" Target="/ppt/slides/slide3.xml" Id="Refe8481963ae4a9f" /><Relationship Type="http://schemas.openxmlformats.org/officeDocument/2006/relationships/slide" Target="/ppt/slides/slide4.xml" Id="Re77d7a4144244c31" /><Relationship Type="http://schemas.openxmlformats.org/officeDocument/2006/relationships/slide" Target="/ppt/slides/slide5.xml" Id="R9134c4c8e0f441e2" /><Relationship Type="http://schemas.openxmlformats.org/officeDocument/2006/relationships/slide" Target="/ppt/slides/slide6.xml" Id="R5b09856d681948ab" /><Relationship Type="http://schemas.openxmlformats.org/officeDocument/2006/relationships/slide" Target="/ppt/slides/slide7.xml" Id="R65ad4c3125b74d52" /><Relationship Type="http://schemas.openxmlformats.org/officeDocument/2006/relationships/slide" Target="/ppt/slides/slide8.xml" Id="R4e2c4ea7a3814ab3" /><Relationship Type="http://schemas.openxmlformats.org/officeDocument/2006/relationships/slide" Target="/ppt/slides/slide9.xml" Id="R40d319176eb34f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eb80d2550043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64d3564a014a97" /><Relationship Type="http://schemas.openxmlformats.org/officeDocument/2006/relationships/notesMaster" Target="/ppt/notesMasters/notesMaster1.xml" Id="R320572a3160647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5a756348d04103" /><Relationship Type="http://schemas.openxmlformats.org/officeDocument/2006/relationships/notesMaster" Target="/ppt/notesMasters/notesMaster1.xml" Id="R53659d03936d40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7fe3faf0654491" /><Relationship Type="http://schemas.openxmlformats.org/officeDocument/2006/relationships/notesMaster" Target="/ppt/notesMasters/notesMaster1.xml" Id="Rd8c5040770ea4b9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e6a16986ee54643" /><Relationship Type="http://schemas.openxmlformats.org/officeDocument/2006/relationships/notesMaster" Target="/ppt/notesMasters/notesMaster1.xml" Id="R6ef40cb1dd244d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0c09873f53e45c9" /><Relationship Type="http://schemas.openxmlformats.org/officeDocument/2006/relationships/notesMaster" Target="/ppt/notesMasters/notesMaster1.xml" Id="Rb6683fdaf6b349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d6cbab763894ef1" /><Relationship Type="http://schemas.openxmlformats.org/officeDocument/2006/relationships/notesMaster" Target="/ppt/notesMasters/notesMaster1.xml" Id="R46785cd75a3845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61f2ea89bb0454b" /><Relationship Type="http://schemas.openxmlformats.org/officeDocument/2006/relationships/notesMaster" Target="/ppt/notesMasters/notesMaster1.xml" Id="R737297d3b9dd44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a17b2acb844c5d" /><Relationship Type="http://schemas.openxmlformats.org/officeDocument/2006/relationships/notesMaster" Target="/ppt/notesMasters/notesMaster1.xml" Id="R27da09e26982400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51121199054b69" /><Relationship Type="http://schemas.openxmlformats.org/officeDocument/2006/relationships/notesMaster" Target="/ppt/notesMasters/notesMaster1.xml" Id="R78fafe81c19c43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内容基于仓库计划、已保存的基准结果和 LUAD 案例报告。课程任务 PDF 尚未提供，最终版式和内容须按任务要求调整。研究用途，不构成临床建议。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计划来源：药物重定位Agent项目计划.md。表达反转和临床疗效的区别见 docs/limitations.md。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GEO GSE32863: https://www.ncbi.nlm.nih.gov/geo/query/acc.cgi?acc=GSE32863 ; ExperimentHub EH3226: https://bioconductor.org/packages/release/data/experiment/html/signatureSearchData.html ; 处理和哈希见 data/manifests/gse32863.json 及 eh3226-luad.json。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方法与冻结规则：docs/evaluation_protocol.md、docs/luad_screening_report.md。limma 用户指南：https://bioconductor.org/packages/release/bioc/vignettes/limma/inst/doc/usersguide.pdf。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数据：TRANSCRIPT v2.0.0，https://zenodo.org/records/7982976 ; 拆分和全局 AUC：stanscofi 2.0.1；三次种子 1234/1235/1236；具体均值、SD 和 NDCG 见 docs/benchmark_results.md。未知 0 按官方全局 AUC 惯例计入非正类，不是已证实临床失败。直接基线为 benchscofi 默认参数，未做发表方案的嵌套调参。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完整 4,920 名排序和对照结果由 scripts/rank_luad_eh3226.py 生成；方法与限制见 docs/luad_screening_report.md。参考药名在排序前冻结于 configs/luad_positive_controls.csv。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Broad Drug Repurposing Hub 2025-08-18 注释：https://repo-hub.broadinstitute.org/repurposing ; 核对明细见 docs/luad_screening_report.md。EH3226 仅存药名，图中精确匹配是推断 GEO ID 与 Hub 样品的核对，仍不能证明上游使用了该具体样品。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代码：src/drug_repurposing_agent/luad_case.py、scripts/build_luad_case.py；TypeSafe 官方 API：https://api.typesafe.ai/docs 。目前默认运行没有 Jev 凭据，外部模型调用数为零。详见 docs/system_card.md。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基准结果：docs/benchmark_results.md；LUAD：docs/luad_screening_report.md；进度：docs/project_status.md。课程 PDF 尚缺，无法按其具体要求确认报告、幻灯片和视频的最终格式。任何候选都不构成临床治疗建议。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21a214aec49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5ab57369a54739" /><Relationship Type="http://schemas.openxmlformats.org/officeDocument/2006/relationships/slideLayout" Target="/ppt/slideLayouts/slideLayout1.xml" Id="Reb2cef54fa164c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2cef54fa164c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a4087a58eb44be" /><Relationship Type="http://schemas.openxmlformats.org/officeDocument/2006/relationships/notesSlide" Target="/ppt/notesSlides/notesSlide1.xml" Id="Rae59135f15b74b2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21db439cb94eaa" /><Relationship Type="http://schemas.openxmlformats.org/officeDocument/2006/relationships/notesSlide" Target="/ppt/notesSlides/notesSlide2.xml" Id="R7191073b9fe34f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65d4877004836" /><Relationship Type="http://schemas.openxmlformats.org/officeDocument/2006/relationships/notesSlide" Target="/ppt/notesSlides/notesSlide3.xml" Id="Rec4144e34d794c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5a59bf3b6f416d" /><Relationship Type="http://schemas.openxmlformats.org/officeDocument/2006/relationships/notesSlide" Target="/ppt/notesSlides/notesSlide4.xml" Id="R1ea5e26cc19942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93a3f985e4824" /><Relationship Type="http://schemas.openxmlformats.org/officeDocument/2006/relationships/chart" Target="/ppt/slides/charts/chart1.xml" Id="R960e75804fe74f6b" /><Relationship Type="http://schemas.openxmlformats.org/officeDocument/2006/relationships/notesSlide" Target="/ppt/notesSlides/notesSlide5.xml" Id="Rded1ce119493454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d81c91f034987" /><Relationship Type="http://schemas.openxmlformats.org/officeDocument/2006/relationships/notesSlide" Target="/ppt/notesSlides/notesSlide6.xml" Id="R3da62b87812b46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700422d384f14" /><Relationship Type="http://schemas.openxmlformats.org/officeDocument/2006/relationships/chart" Target="/ppt/slides/charts/chart2.xml" Id="R5d8adac357b5431f" /><Relationship Type="http://schemas.openxmlformats.org/officeDocument/2006/relationships/notesSlide" Target="/ppt/notesSlides/notesSlide7.xml" Id="Rd84d79f53df344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6c46e4ad34933" /><Relationship Type="http://schemas.openxmlformats.org/officeDocument/2006/relationships/notesSlide" Target="/ppt/notesSlides/notesSlide8.xml" Id="Rfb9dbec4d75b4a1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efc7f47754852" /><Relationship Type="http://schemas.openxmlformats.org/officeDocument/2006/relationships/notesSlide" Target="/ppt/notesSlides/notesSlide9.xml" Id="R1137e6d21cb74af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随机拆分</c:v>
          </c:tx>
          <c:spPr>
            <a:solidFill xmlns:a="http://schemas.openxmlformats.org/drawingml/2006/main">
              <a:srgbClr val="4776A1"/>
            </a:solidFill>
          </c:spPr>
          <c:cat>
            <c:strRef>
              <c:f>'Chart Data'!$A$2:$A$5</c:f>
              <c:strCache>
                <c:ptCount val="4"/>
                <c:pt idx="0">
                  <c:v>B1 反转</c:v>
                </c:pt>
                <c:pt idx="1">
                  <c:v>B0p 流行度</c:v>
                </c:pt>
                <c:pt idx="2">
                  <c:v>B2 融合</c:v>
                </c:pt>
                <c:pt idx="3">
                  <c:v>LogisticMF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48.2</c:v>
                </c:pt>
                <c:pt idx="1">
                  <c:v>73.46</c:v>
                </c:pt>
                <c:pt idx="2">
                  <c:v>72.7</c:v>
                </c:pt>
                <c:pt idx="3">
                  <c:v>80.05</c:v>
                </c:pt>
              </c:numCache>
            </c:numRef>
          </c:val>
        </c:ser>
        <c:ser>
          <c:idx val="1"/>
          <c:order val="1"/>
          <c:tx>
            <c:v>弱相关拆分</c:v>
          </c:tx>
          <c:spPr>
            <a:solidFill xmlns:a="http://schemas.openxmlformats.org/drawingml/2006/main">
              <a:srgbClr val="087E78"/>
            </a:solidFill>
          </c:spPr>
          <c:cat>
            <c:strRef>
              <c:f>'Chart Data'!$C$2:$C$5</c:f>
              <c:strCache>
                <c:ptCount val="4"/>
                <c:pt idx="0">
                  <c:v>B1 反转</c:v>
                </c:pt>
                <c:pt idx="1">
                  <c:v>B0p 流行度</c:v>
                </c:pt>
                <c:pt idx="2">
                  <c:v>B2 融合</c:v>
                </c:pt>
                <c:pt idx="3">
                  <c:v>LogisticMF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52.38</c:v>
                </c:pt>
                <c:pt idx="1">
                  <c:v>50</c:v>
                </c:pt>
                <c:pt idx="2">
                  <c:v>47.52</c:v>
                </c:pt>
                <c:pt idx="3">
                  <c:v>66.96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0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前十名数量</c:v>
          </c:tx>
          <c:spPr>
            <a:solidFill xmlns:a="http://schemas.openxmlformats.org/drawingml/2006/main">
              <a:srgbClr val="087E78"/>
            </a:solidFill>
          </c:spPr>
          <c:cat>
            <c:strRef>
              <c:f>'Chart Data'!$A$2:$A$6</c:f>
              <c:strCache>
                <c:ptCount val="5"/>
                <c:pt idx="0">
                  <c:v>精确 InChIKey</c:v>
                </c:pt>
                <c:pt idx="1">
                  <c:v>立体差异</c:v>
                </c:pt>
                <c:pt idx="2">
                  <c:v>身份不符</c:v>
                </c:pt>
                <c:pt idx="3">
                  <c:v>同名多 ID</c:v>
                </c:pt>
                <c:pt idx="4">
                  <c:v>无 Hub 样品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2B3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AD95D-ECF2-4C54-B339-002E2A4D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药物重定位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2F8E4-1F01-4E97-9D72-30673BA4E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公开基准与肺腺癌研究案例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BF115-5720-4FD3-AB40-E3CA3A94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BD5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BD5D3"/>
                </a:solidFill>
                <a:latin typeface="Microsoft YaHei"/>
                <a:ea typeface="Microsoft YaHei"/>
                <a:cs typeface="Microsoft YaHei"/>
              </a:rPr>
              <a:t>课程设计答辩草稿  ·  2026 年 9 月</a:t>
            </a:r>
          </a:p>
        </p:txBody>
      </p:sp>
    </p:spTree>
    <p:extLst>
      <p:ext uri="{BB962C8B-B14F-4D97-AF65-F5344CB8AC3E}">
        <p14:creationId xmlns:p14="http://schemas.microsoft.com/office/powerpoint/2010/main" val="7369279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A2E64-B230-4229-A8EA-C2788626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E4E77-0A40-46A0-96F2-6A5A7C32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29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40FDA-7AE6-463E-976D-64A4705E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表达反转能否改善公开基准上的药物排序？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58487-240F-4670-B9FB-77D7DD93B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肺腺癌候选能否从输入数据追踪到身份与文献证据？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7FC8B-F3E3-4441-B734-E5F1E74C0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10150"/>
            <a:ext cx="10382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评价重点：排名表现、数据溯源、证据边界</a:t>
            </a:r>
          </a:p>
        </p:txBody>
      </p:sp>
    </p:spTree>
    <p:extLst>
      <p:ext uri="{BB962C8B-B14F-4D97-AF65-F5344CB8AC3E}">
        <p14:creationId xmlns:p14="http://schemas.microsoft.com/office/powerpoint/2010/main" val="428151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26519C-B938-47EE-9D96-62C5B956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数据与质量控制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A7C92-F636-440C-9072-241121F5C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29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34098-F022-4823-84A3-6D0B4124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457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57 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E8C2F-5FD0-4A1D-98D9-BA03600E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GSE32863 肿瘤与邻近正常组织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31431-0961-43DA-BA7C-0F63DFE9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2 份患者编号无法配对的样本已排除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0E619E-3072-4230-B517-B4F25013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954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4,920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8B04F-3ACC-48EB-B2A1-65F05D92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86050"/>
            <a:ext cx="4714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A549 药名扰动签名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856524-FCB4-49F7-AAD7-4CACD354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3375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961 个与 LUAD 重合的 landmark 基因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F7F85B-62DD-4F53-93B8-5AB85A5E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57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配对 limma 与 t 检验得到相同阈值基因集：上调 512，下调 749</a:t>
            </a:r>
          </a:p>
        </p:txBody>
      </p:sp>
    </p:spTree>
    <p:extLst>
      <p:ext uri="{BB962C8B-B14F-4D97-AF65-F5344CB8AC3E}">
        <p14:creationId xmlns:p14="http://schemas.microsoft.com/office/powerpoint/2010/main" val="1391701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AAC70-9312-4305-805B-9133486C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固定的分析方法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1BE78-6608-49D6-9892-361FE095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29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9BCF5-8956-4879-8F61-E799EA1B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5257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1  配对差异表达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0667D0-9915-4673-A292-5AC8D5A95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肿瘤减正常；FDR &lt; 0.05 且 |log2FC| ≥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AFB19-343E-41AB-9112-19BDA566F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2  药物表达反转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70FFD-0C5A-4BCF-A8F3-ADF9977A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负 Spearman 与上调/下调基因秩连接分数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8C15F-2225-4E81-8A3E-D1719457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3  排名融合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F02077-9BAD-4D81-A44D-D8084C00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RRF k = 60；并列分数共享名次；不读取参考治疗标签</a:t>
            </a:r>
          </a:p>
        </p:txBody>
      </p:sp>
    </p:spTree>
    <p:extLst>
      <p:ext uri="{BB962C8B-B14F-4D97-AF65-F5344CB8AC3E}">
        <p14:creationId xmlns:p14="http://schemas.microsoft.com/office/powerpoint/2010/main" val="14423487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796DC-B245-4DB3-9662-D5C9B667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公开基准结果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49958C-07FA-4AD4-BB0D-06439272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29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952500" y="1476375"/>
          <a:ext xmlns:a="http://schemas.openxmlformats.org/drawingml/2006/main" cx="10287000" cy="3810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0e75804fe74f6b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1061B-A58F-43D3-ACCC-65D88815D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全局 AUC × 100，三次种子的均值</a:t>
            </a:r>
          </a:p>
        </p:txBody>
      </p:sp>
    </p:spTree>
    <p:extLst>
      <p:ext uri="{BB962C8B-B14F-4D97-AF65-F5344CB8AC3E}">
        <p14:creationId xmlns:p14="http://schemas.microsoft.com/office/powerpoint/2010/main" val="185123978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09F9C-4EDA-4B50-A98C-70E73E6B1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LUAD 候选与参考药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4BC92-C776-4C34-B57F-A691AA00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29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396F22-1292-45C4-9509-006BADA6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前十名集中出现类固醇相关药物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64F35F-71E9-4627-9643-08DDF0911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参考药物在 4,920 个药名中的位置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7E2AF0-5814-4570-ABFC-2C546A37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48025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docetaxel  106       crizotinib  241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CDF26-4721-4AA0-8568-FC481331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gefitinib  2,444     paclitaxel  2,962     erlotinib  3,147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EBB641-4CF3-407C-A057-07573E11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另有 6 个预先指定药名不在该表达子集中</a:t>
            </a:r>
          </a:p>
        </p:txBody>
      </p:sp>
    </p:spTree>
    <p:extLst>
      <p:ext uri="{BB962C8B-B14F-4D97-AF65-F5344CB8AC3E}">
        <p14:creationId xmlns:p14="http://schemas.microsoft.com/office/powerpoint/2010/main" val="18259452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BBCC7-B83A-4EBA-8EE9-5429CE6D5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候选身份与证据缺口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F3C420-32A7-4AD8-AA98-34F0155E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29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mlns:a="http://schemas.openxmlformats.org/drawingml/2006/main" x="952500" y="1524000"/>
          <a:ext xmlns:a="http://schemas.openxmlformats.org/drawingml/2006/main" cx="1028700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8adac357b5431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3F32ED-4DB3-4E53-B929-909C4FEF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十个候选仍全部处于“证据不足”</a:t>
            </a:r>
          </a:p>
        </p:txBody>
      </p:sp>
    </p:spTree>
    <p:extLst>
      <p:ext uri="{BB962C8B-B14F-4D97-AF65-F5344CB8AC3E}">
        <p14:creationId xmlns:p14="http://schemas.microsoft.com/office/powerpoint/2010/main" val="9275218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5051C6-6B49-4458-8554-3740BFAB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可审计的案例输出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98DA1-4388-4D85-8586-3B0A4FB0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29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A16753-C64F-49E7-962B-DD09A8B4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输入哈希与样本 QC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424CF-D32A-475C-AAD2-E2A29C902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982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连续排名与冻结参考药清单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2A350-2182-4BC2-A4DD-7EAC53A2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28975"/>
            <a:ext cx="1019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身份核对与逐候选证据账本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98C176-17F6-4499-BF99-67F77960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JSON 报告、执行轨迹及模型调用成本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34076F-32F1-4BB9-B7CC-8A2E20F4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默认人工复核；Jev 接口只作可选研究任务路由</a:t>
            </a:r>
          </a:p>
        </p:txBody>
      </p:sp>
    </p:spTree>
    <p:extLst>
      <p:ext uri="{BB962C8B-B14F-4D97-AF65-F5344CB8AC3E}">
        <p14:creationId xmlns:p14="http://schemas.microsoft.com/office/powerpoint/2010/main" val="21121196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5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307BE0-B879-4FDC-8EE4-AD9F782F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结论与待完成工作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73DDD-0480-47D4-A698-CBF71CA2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229350"/>
            <a:ext cx="685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D05F13-C5CC-44B3-A51C-2A43F66B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66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表达反转未超过强基线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D035A4-9D02-47FE-9D31-9DE84DFC2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LUAD 前十名是待验证的研究假设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69AB0-F076-474B-92CD-DE62B28C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1047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下一步：化合物身份核对与完整证据审阅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B29D63-485A-458D-9C51-C08D129E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43450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仍需课程任务 PDF、完整内部 Eval 和 Jev 对比实验</a:t>
            </a:r>
          </a:p>
        </p:txBody>
      </p:sp>
    </p:spTree>
    <p:extLst>
      <p:ext uri="{BB962C8B-B14F-4D97-AF65-F5344CB8AC3E}">
        <p14:creationId xmlns:p14="http://schemas.microsoft.com/office/powerpoint/2010/main" val="15109035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2026-09-24T14:20:46.9130000Z</dcterms:created>
  <dcterms:modified xsi:type="dcterms:W3CDTF">2026-09-24T14:20:46.9130000Z</dcterms:modified>
</coreProperties>
</file>