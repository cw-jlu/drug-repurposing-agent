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58f0695a7a4e9c" /><Relationship Type="http://schemas.openxmlformats.org/officeDocument/2006/relationships/extended-properties" Target="/docProps/app.xml" Id="R33c70aa28eb14303" /><Relationship Type="http://schemas.openxmlformats.org/officeDocument/2006/relationships/officeDocument" Target="/ppt/presentation.xml" Id="R92b04e57353a46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54ef5fce254845"/>
  </p:sldMasterIdLst>
  <p:notesMasterIdLst>
    <p:notesMasterId xmlns:r="http://schemas.openxmlformats.org/officeDocument/2006/relationships" r:id="R2b7e367a35204589"/>
  </p:notesMasterIdLst>
  <p:sldIdLst>
    <p:sldId xmlns:r="http://schemas.openxmlformats.org/officeDocument/2006/relationships" id="256" r:id="R61016b75ddcc4770"/>
    <p:sldId xmlns:r="http://schemas.openxmlformats.org/officeDocument/2006/relationships" id="257" r:id="R4b956b24711d4063"/>
    <p:sldId xmlns:r="http://schemas.openxmlformats.org/officeDocument/2006/relationships" id="258" r:id="Re5f453df277841dc"/>
    <p:sldId xmlns:r="http://schemas.openxmlformats.org/officeDocument/2006/relationships" id="259" r:id="R65ec87c43edd4870"/>
    <p:sldId xmlns:r="http://schemas.openxmlformats.org/officeDocument/2006/relationships" id="260" r:id="R4d147e2758254cd9"/>
    <p:sldId xmlns:r="http://schemas.openxmlformats.org/officeDocument/2006/relationships" id="261" r:id="Re921de05993f4e04"/>
    <p:sldId xmlns:r="http://schemas.openxmlformats.org/officeDocument/2006/relationships" id="262" r:id="Rbe00dd616d0e42f6"/>
    <p:sldId xmlns:r="http://schemas.openxmlformats.org/officeDocument/2006/relationships" id="263" r:id="Rb3d35adedd88455e"/>
    <p:sldId xmlns:r="http://schemas.openxmlformats.org/officeDocument/2006/relationships" id="264" r:id="R666a591d80934b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f5752b402841ed" /><Relationship Type="http://schemas.openxmlformats.org/officeDocument/2006/relationships/slideMaster" Target="/ppt/slideMasters/slideMaster1.xml" Id="Rdb54ef5fce254845" /><Relationship Type="http://schemas.openxmlformats.org/officeDocument/2006/relationships/notesMaster" Target="/ppt/notesMasters/notesMaster1.xml" Id="R2b7e367a35204589" /><Relationship Type="http://schemas.openxmlformats.org/officeDocument/2006/relationships/presProps" Target="/ppt/presProps.xml" Id="R37fc4c5f48cc4f66" /><Relationship Type="http://schemas.openxmlformats.org/officeDocument/2006/relationships/tableStyles" Target="/ppt/tableStyles.xml" Id="R0b6175fc09044967" /><Relationship Type="http://schemas.openxmlformats.org/officeDocument/2006/relationships/slide" Target="/ppt/slides/slide1.xml" Id="R61016b75ddcc4770" /><Relationship Type="http://schemas.openxmlformats.org/officeDocument/2006/relationships/slide" Target="/ppt/slides/slide2.xml" Id="R4b956b24711d4063" /><Relationship Type="http://schemas.openxmlformats.org/officeDocument/2006/relationships/slide" Target="/ppt/slides/slide3.xml" Id="Re5f453df277841dc" /><Relationship Type="http://schemas.openxmlformats.org/officeDocument/2006/relationships/slide" Target="/ppt/slides/slide4.xml" Id="R65ec87c43edd4870" /><Relationship Type="http://schemas.openxmlformats.org/officeDocument/2006/relationships/slide" Target="/ppt/slides/slide5.xml" Id="R4d147e2758254cd9" /><Relationship Type="http://schemas.openxmlformats.org/officeDocument/2006/relationships/slide" Target="/ppt/slides/slide6.xml" Id="Re921de05993f4e04" /><Relationship Type="http://schemas.openxmlformats.org/officeDocument/2006/relationships/slide" Target="/ppt/slides/slide7.xml" Id="Rbe00dd616d0e42f6" /><Relationship Type="http://schemas.openxmlformats.org/officeDocument/2006/relationships/slide" Target="/ppt/slides/slide8.xml" Id="Rb3d35adedd88455e" /><Relationship Type="http://schemas.openxmlformats.org/officeDocument/2006/relationships/slide" Target="/ppt/slides/slide9.xml" Id="R666a591d80934b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ea8a74732c4d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d2ea264a43485b" /><Relationship Type="http://schemas.openxmlformats.org/officeDocument/2006/relationships/notesMaster" Target="/ppt/notesMasters/notesMaster1.xml" Id="R01811387f2ec4b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f0f90efa7a4163" /><Relationship Type="http://schemas.openxmlformats.org/officeDocument/2006/relationships/notesMaster" Target="/ppt/notesMasters/notesMaster1.xml" Id="R70351e046fb24c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779b7b9b014f7c" /><Relationship Type="http://schemas.openxmlformats.org/officeDocument/2006/relationships/notesMaster" Target="/ppt/notesMasters/notesMaster1.xml" Id="R0f2deadebc5045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31d6fe43a84f49" /><Relationship Type="http://schemas.openxmlformats.org/officeDocument/2006/relationships/notesMaster" Target="/ppt/notesMasters/notesMaster1.xml" Id="Rf7dd5f9b407d4b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12f85fc48645b5" /><Relationship Type="http://schemas.openxmlformats.org/officeDocument/2006/relationships/notesMaster" Target="/ppt/notesMasters/notesMaster1.xml" Id="R54d21e6cb2ea41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86c77ce5e14032" /><Relationship Type="http://schemas.openxmlformats.org/officeDocument/2006/relationships/notesMaster" Target="/ppt/notesMasters/notesMaster1.xml" Id="R74b85ec13be348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20bbbb30254a3b" /><Relationship Type="http://schemas.openxmlformats.org/officeDocument/2006/relationships/notesMaster" Target="/ppt/notesMasters/notesMaster1.xml" Id="Rb218d165463a40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3d9d6dce03416d" /><Relationship Type="http://schemas.openxmlformats.org/officeDocument/2006/relationships/notesMaster" Target="/ppt/notesMasters/notesMaster1.xml" Id="R30f81ba1962e46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94af03f0954ea3" /><Relationship Type="http://schemas.openxmlformats.org/officeDocument/2006/relationships/notesMaster" Target="/ppt/notesMasters/notesMaster1.xml" Id="Rfa3d892f572c47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内容基于仓库计划、已保存的基准结果、LUAD 案例报告和课程任务 PDF。课程要求覆盖 Problem、Data、Model、Benchmark、Biological interpretation 五个环节，提交 GitHub 代码并进行约 10 分钟汇报。研究用途，不构成临床建议。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计划来源：药物重定位Agent项目计划.md。表达反转和临床疗效的区别见 docs/limitations.md。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GEO GSE32863: https://www.ncbi.nlm.nih.gov/geo/query/acc.cgi?acc=GSE32863 ; ExperimentHub EH3226: https://bioconductor.org/packages/release/data/experiment/html/signatureSearchData.html ; 处理和哈希见 data/manifests/gse32863.json 及 eh3226-luad.json。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方法与冻结规则：docs/evaluation_protocol.md、docs/luad_screening_report.md。limma 用户指南：https://bioconductor.org/packages/release/bioc/vignettes/limma/inst/doc/usersguide.pdf。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数据：TRANSCRIPT v2.0.0，https://zenodo.org/records/7982976 ; 拆分和全局 AUC：stanscofi 2.0.1；三次种子 1234/1235/1236；具体均值、SD 和 NDCG 见 docs/benchmark_results.md。未知 0 按官方全局 AUC 惯例计入非正类，不是已证实临床失败。直接基线为 benchscofi 默认参数，未做发表方案的嵌套调参。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4,920 名排序和对照结果由 scripts/rank_luad_eh3226.py 生成；方法与限制见 docs/luad_screening_report.md。参考药名在排序前冻结于 configs/luad_positive_controls.csv。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Broad Drug Repurposing Hub 2025-08-18 注释：https://repo-hub.broadinstitute.org/repurposing ; 核对明细见 docs/luad_screening_report.md。EH3226 仅存药名，图中精确匹配是推断 GEO ID 与 Hub 样品的核对，仍不能证明上游使用了该具体样品。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代码：src/drug_repurposing_agent/agent.py、workflow.py、luad_case.py。课程要求映射见 docs/assignment_alignment.md。目前默认使用规则 Planner；StructuredPlanner 提供外部结构化 LLM 接口，但尚无真实 LLM 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基准结果：docs/benchmark_results.md；LUAD：docs/luad_screening_report.md；课程映射：docs/assignment_alignment.md；进度：docs/project_status.md。任何候选都不构成临床治疗建议。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68bdaf950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5007c075464d08" /><Relationship Type="http://schemas.openxmlformats.org/officeDocument/2006/relationships/slideLayout" Target="/ppt/slideLayouts/slideLayout1.xml" Id="R917d7cf8656a44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7d7cf8656a44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9f3a5b8654757" /><Relationship Type="http://schemas.openxmlformats.org/officeDocument/2006/relationships/notesSlide" Target="/ppt/notesSlides/notesSlide1.xml" Id="R807b8c91880543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15061da984830" /><Relationship Type="http://schemas.openxmlformats.org/officeDocument/2006/relationships/notesSlide" Target="/ppt/notesSlides/notesSlide2.xml" Id="R29326b18c8c640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6e6b1e5b34439" /><Relationship Type="http://schemas.openxmlformats.org/officeDocument/2006/relationships/notesSlide" Target="/ppt/notesSlides/notesSlide3.xml" Id="R1409fb8643f445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625f659b34f18" /><Relationship Type="http://schemas.openxmlformats.org/officeDocument/2006/relationships/notesSlide" Target="/ppt/notesSlides/notesSlide4.xml" Id="Rb3bca3ea33264d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d8bb47919438b" /><Relationship Type="http://schemas.openxmlformats.org/officeDocument/2006/relationships/chart" Target="/ppt/slides/charts/chart1.xml" Id="R0b2803f97a2742bc" /><Relationship Type="http://schemas.openxmlformats.org/officeDocument/2006/relationships/notesSlide" Target="/ppt/notesSlides/notesSlide5.xml" Id="R0f64a787eaf140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66b51d8d34b40" /><Relationship Type="http://schemas.openxmlformats.org/officeDocument/2006/relationships/notesSlide" Target="/ppt/notesSlides/notesSlide6.xml" Id="R03c7046b577946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190abe1144e92" /><Relationship Type="http://schemas.openxmlformats.org/officeDocument/2006/relationships/chart" Target="/ppt/slides/charts/chart2.xml" Id="Rdf1bd97452d84e66" /><Relationship Type="http://schemas.openxmlformats.org/officeDocument/2006/relationships/notesSlide" Target="/ppt/notesSlides/notesSlide7.xml" Id="R63c01a81c66245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e08d018644f54" /><Relationship Type="http://schemas.openxmlformats.org/officeDocument/2006/relationships/notesSlide" Target="/ppt/notesSlides/notesSlide8.xml" Id="R476eedd92dd744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ce9c91dde4453" /><Relationship Type="http://schemas.openxmlformats.org/officeDocument/2006/relationships/notesSlide" Target="/ppt/notesSlides/notesSlide9.xml" Id="R813f48505607413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随机拆分</c:v>
          </c:tx>
          <c:spPr>
            <a:solidFill xmlns:a="http://schemas.openxmlformats.org/drawingml/2006/main">
              <a:srgbClr val="4776A1"/>
            </a:solidFill>
          </c:spPr>
          <c:cat>
            <c:strRef>
              <c:f>'Chart Data'!$A$2:$A$5</c:f>
              <c:strCache>
                <c:ptCount val="4"/>
                <c:pt idx="0">
                  <c:v>B1 反转</c:v>
                </c:pt>
                <c:pt idx="1">
                  <c:v>B0p 流行度</c:v>
                </c:pt>
                <c:pt idx="2">
                  <c:v>B2 融合</c:v>
                </c:pt>
                <c:pt idx="3">
                  <c:v>LogisticMF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48.2</c:v>
                </c:pt>
                <c:pt idx="1">
                  <c:v>73.46</c:v>
                </c:pt>
                <c:pt idx="2">
                  <c:v>72.7</c:v>
                </c:pt>
                <c:pt idx="3">
                  <c:v>80.05</c:v>
                </c:pt>
              </c:numCache>
            </c:numRef>
          </c:val>
        </c:ser>
        <c:ser>
          <c:idx val="1"/>
          <c:order val="1"/>
          <c:tx>
            <c:v>弱相关拆分</c:v>
          </c:tx>
          <c:spPr>
            <a:solidFill xmlns:a="http://schemas.openxmlformats.org/drawingml/2006/main">
              <a:srgbClr val="087E78"/>
            </a:solidFill>
          </c:spPr>
          <c:cat>
            <c:strRef>
              <c:f>'Chart Data'!$C$2:$C$5</c:f>
              <c:strCache>
                <c:ptCount val="4"/>
                <c:pt idx="0">
                  <c:v>B1 反转</c:v>
                </c:pt>
                <c:pt idx="1">
                  <c:v>B0p 流行度</c:v>
                </c:pt>
                <c:pt idx="2">
                  <c:v>B2 融合</c:v>
                </c:pt>
                <c:pt idx="3">
                  <c:v>LogisticMF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52.38</c:v>
                </c:pt>
                <c:pt idx="1">
                  <c:v>50</c:v>
                </c:pt>
                <c:pt idx="2">
                  <c:v>47.52</c:v>
                </c:pt>
                <c:pt idx="3">
                  <c:v>66.96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前十名数量</c:v>
          </c:tx>
          <c:spPr>
            <a:solidFill xmlns:a="http://schemas.openxmlformats.org/drawingml/2006/main">
              <a:srgbClr val="087E78"/>
            </a:solidFill>
          </c:spPr>
          <c:cat>
            <c:strRef>
              <c:f>'Chart Data'!$A$2:$A$6</c:f>
              <c:strCache>
                <c:ptCount val="5"/>
                <c:pt idx="0">
                  <c:v>精确 InChIKey</c:v>
                </c:pt>
                <c:pt idx="1">
                  <c:v>立体差异</c:v>
                </c:pt>
                <c:pt idx="2">
                  <c:v>身份不符</c:v>
                </c:pt>
                <c:pt idx="3">
                  <c:v>同名多 ID</c:v>
                </c:pt>
                <c:pt idx="4">
                  <c:v>无 Hub 样品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AF6DD-BEDE-4AAF-A4F7-65A4B49A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药物重定位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96721-DD5D-4FFE-863F-06A04AC5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公开基准与肺腺癌研究案例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84765-2192-487F-A47E-910784B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BD5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BD5D3"/>
                </a:solidFill>
                <a:latin typeface="Microsoft YaHei"/>
                <a:ea typeface="Microsoft YaHei"/>
                <a:cs typeface="Microsoft YaHei"/>
              </a:rPr>
              <a:t>课程设计答辩  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015518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84FEA-F9D6-4202-8941-80F6F326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29E3B-12E9-4EFA-B3FB-70587DFA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5BFDE-734A-4D81-BBBE-59B1C26B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表达反转能否改善公开基准上的药物排序？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5F63C-6F70-41A5-88C7-4DE0F5FC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肺腺癌候选能否从输入数据追踪到身份与文献证据？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B457E-2489-4D60-BE00-BBFA0571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评价重点：排名表现、数据溯源、证据边界</a:t>
            </a:r>
          </a:p>
        </p:txBody>
      </p:sp>
    </p:spTree>
    <p:extLst>
      <p:ext uri="{BB962C8B-B14F-4D97-AF65-F5344CB8AC3E}">
        <p14:creationId xmlns:p14="http://schemas.microsoft.com/office/powerpoint/2010/main" val="1548605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4E803-4073-431D-8AB7-19D7DB90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数据与质量控制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31BEF-F75E-4329-B9CC-C1025FBA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4BA06-6BBE-4912-9944-A3E466CE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57 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D9C00-93AE-47D7-B071-6882E87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GSE32863 肿瘤与邻近正常组织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DA212-BF12-467F-BFA2-15B7C320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2 份患者编号无法配对的样本已排除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207EB-697E-4726-81EC-AEE22A66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4,920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0298E-5338-4649-A0B8-AEE748B8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471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A549 药名扰动签名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B5778-CBEC-4399-BE2C-C274C17E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961 个与 LUAD 重合的 landmark 基因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5ADE9-5EBC-492D-AD69-DD687416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配对 limma 与 t 检验得到相同阈值基因集：上调 512，下调 749</a:t>
            </a:r>
          </a:p>
        </p:txBody>
      </p:sp>
    </p:spTree>
    <p:extLst>
      <p:ext uri="{BB962C8B-B14F-4D97-AF65-F5344CB8AC3E}">
        <p14:creationId xmlns:p14="http://schemas.microsoft.com/office/powerpoint/2010/main" val="754248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79972-0ABF-4DE7-81EC-D6E80B4B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固定的分析方法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3AAEA-54A2-4C45-86DA-CC80B84B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5E30E-B55D-42E9-AE47-F612AD85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525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1  配对差异表达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942D0-C5FB-409B-B52D-706D5767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肿瘤减正常；FDR &lt; 0.05 且 |log2FC| ≥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21776-7377-4D17-9F47-A09B5A9B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2  药物表达反转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A0FA2-A887-43E5-BFA4-5264F296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负 Spearman 与上调/下调基因秩连接分数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D2ABF-EF8C-474F-ACF4-D28D007A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3  排名融合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FF53F-A185-465D-8A48-13BC0FB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RRF k = 60；并列分数共享名次；不读取参考治疗标签</a:t>
            </a:r>
          </a:p>
        </p:txBody>
      </p:sp>
    </p:spTree>
    <p:extLst>
      <p:ext uri="{BB962C8B-B14F-4D97-AF65-F5344CB8AC3E}">
        <p14:creationId xmlns:p14="http://schemas.microsoft.com/office/powerpoint/2010/main" val="161624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8AA25-B5F0-4493-A1C9-83CE7DF8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公开基准结果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78442-117B-45F6-9807-A41ED32D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952500" y="1476375"/>
          <a:ext xmlns:a="http://schemas.openxmlformats.org/drawingml/2006/main" cx="10287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2803f97a2742b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A9210-F6B4-4F9B-9D82-2F89567A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全局 AUC × 100，三次种子的均值</a:t>
            </a:r>
          </a:p>
        </p:txBody>
      </p:sp>
    </p:spTree>
    <p:extLst>
      <p:ext uri="{BB962C8B-B14F-4D97-AF65-F5344CB8AC3E}">
        <p14:creationId xmlns:p14="http://schemas.microsoft.com/office/powerpoint/2010/main" val="2073637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77205-40DD-4960-849B-B08A664E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LUAD 候选与参考药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04D7E-AA28-4AAD-9DEC-90D7557A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4E3B1-2EAC-4B8D-B12C-E3E5FE7F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前十名集中出现类固醇相关药物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863B0-CF77-4FDE-BF0E-56560919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参考药物在 4,920 个药名中的位置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6AC24-EF6D-4FB7-9396-E9198488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docetaxel  106       crizotinib  241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7629D-8471-458D-B5D1-551CA81A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gefitinib  2,444     paclitaxel  2,962     erlotinib  3,147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1ECAC-2BAD-4A96-B63E-B841AB95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另有 6 个预先指定药名不在该表达子集中</a:t>
            </a:r>
          </a:p>
        </p:txBody>
      </p:sp>
    </p:spTree>
    <p:extLst>
      <p:ext uri="{BB962C8B-B14F-4D97-AF65-F5344CB8AC3E}">
        <p14:creationId xmlns:p14="http://schemas.microsoft.com/office/powerpoint/2010/main" val="1033563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42419-D767-4BEB-A964-603C8AE2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候选身份与证据缺口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BACAD-CB0C-4B49-8E3C-043B87D4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952500" y="1524000"/>
          <a:ext xmlns:a="http://schemas.openxmlformats.org/drawingml/2006/main" cx="10287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1bd97452d84e6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F266F-1260-4C27-BFD1-930F063D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十个候选仍全部处于“证据不足”</a:t>
            </a:r>
          </a:p>
        </p:txBody>
      </p:sp>
    </p:spTree>
    <p:extLst>
      <p:ext uri="{BB962C8B-B14F-4D97-AF65-F5344CB8AC3E}">
        <p14:creationId xmlns:p14="http://schemas.microsoft.com/office/powerpoint/2010/main" val="12058560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1CDF2-F1CA-4002-A7E4-954B7FD0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自然语言 Agent 与审计轨迹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47F3D-7B50-4949-A6E5-FD3189FF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F1DD6-DAF5-447A-A460-C015858B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自然语言问题进入受控 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7CD60-2708-459A-93E6-89966FC8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工具名称、参数与 Strict/Open 权限必须通过验证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DE776-B3D8-432B-957F-E69115C7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确定性工具执行表达排名或 LUAD 案例打包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63DFE-F253-4964-B1F2-3D9402B9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agent_run.json 记录计划、输入缺口、越权阻断与失败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E4AE8-904F-4F21-BFF6-E594CA9D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23 项测试通过；Planner 不接收原始矩阵、路径或测试标签</a:t>
            </a:r>
          </a:p>
        </p:txBody>
      </p:sp>
    </p:spTree>
    <p:extLst>
      <p:ext uri="{BB962C8B-B14F-4D97-AF65-F5344CB8AC3E}">
        <p14:creationId xmlns:p14="http://schemas.microsoft.com/office/powerpoint/2010/main" val="1365593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C6DD6-ACFE-43FD-A766-DAEF0160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结论与待完成工作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9ACA7-4324-4B2B-AC0C-F9EB4807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9F1F7-BF72-4C00-8A69-318CE68B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表达反转未超过强基线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12E9C-E98C-4160-809C-6A1B3B3A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LUAD 前十名是待验证的研究假设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4D984-ADBD-4E0D-B1E8-E0341491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下一步是化合物身份核对与完整证据审阅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52912-57C4-4514-9F22-C3A3BA2D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仍需真实 LLM/Jev 对比、扩展内部 Eval 和完整调参</a:t>
            </a:r>
          </a:p>
        </p:txBody>
      </p:sp>
    </p:spTree>
    <p:extLst>
      <p:ext uri="{BB962C8B-B14F-4D97-AF65-F5344CB8AC3E}">
        <p14:creationId xmlns:p14="http://schemas.microsoft.com/office/powerpoint/2010/main" val="144714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2026-09-24T15:34:34.1260000Z</dcterms:created>
  <dcterms:modified xsi:type="dcterms:W3CDTF">2026-09-24T15:34:34.1260000Z</dcterms:modified>
</coreProperties>
</file>